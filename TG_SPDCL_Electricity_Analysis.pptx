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024360" y="0"/>
            <a:ext cx="164592" cy="68580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0" y="914400"/>
            <a:ext cx="4114800" cy="4114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7315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00F2FE"/>
                </a:solidFill>
                <a:latin typeface="Segoe UI Black"/>
              </a:rPr>
              <a:t>TG-SPDCL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24028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8FAFC"/>
                </a:solidFill>
                <a:latin typeface="Segoe UI"/>
              </a:rPr>
              <a:t>ELECTRICITY CONSUMPTION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97180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A855F7"/>
                </a:solidFill>
                <a:latin typeface="Segoe UI"/>
              </a:rPr>
              <a:t>&amp; MONITORING ANALYSIS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822191"/>
            <a:ext cx="45720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9319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59E0B"/>
                </a:solidFill>
                <a:latin typeface="Segoe UI"/>
              </a:rPr>
              <a:t>Data Analytics &amp; Visualization Project  •  July 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572000"/>
            <a:ext cx="5943600" cy="1920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4572000"/>
            <a:ext cx="5943600" cy="73152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66344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F2FE"/>
                </a:solidFill>
                <a:latin typeface="Segoe UI"/>
              </a:rPr>
              <a:t>👥  Team Members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047488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8FAFC"/>
                </a:solidFill>
                <a:latin typeface="Segoe UI"/>
              </a:rPr>
              <a:t>D. Chander   •   K. Arjun   •   P. Sachin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44068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Segoe UI"/>
              </a:rPr>
              <a:t>Roll No: 2503A52214  •  2503A52235  •  2503A52240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833872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  <a:latin typeface="Segoe UI"/>
              </a:rPr>
              <a:t>Source: TG-SPDCL Domestic Consumption Dataset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2011680"/>
            <a:ext cx="1737360" cy="1417320"/>
          </a:xfrm>
          <a:prstGeom prst="rect">
            <a:avLst/>
          </a:prstGeom>
          <a:solidFill>
            <a:srgbClr val="0F172A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2148840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F2FE"/>
                </a:solidFill>
                <a:latin typeface="Segoe UI"/>
              </a:rPr>
              <a:t>15,947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92608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Segoe UI"/>
              </a:rPr>
              <a:t>Total Records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149840" y="2011680"/>
            <a:ext cx="1737360" cy="1417320"/>
          </a:xfrm>
          <a:prstGeom prst="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0" y="2148840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0B981"/>
                </a:solidFill>
                <a:latin typeface="Segoe UI"/>
              </a:rPr>
              <a:t>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292608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Segoe UI"/>
              </a:rPr>
              <a:t>Circles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3657600"/>
            <a:ext cx="1737360" cy="1417320"/>
          </a:xfrm>
          <a:prstGeom prst="rect">
            <a:avLst/>
          </a:prstGeom>
          <a:solidFill>
            <a:srgbClr val="0F172A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3794760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A855F7"/>
                </a:solidFill>
                <a:latin typeface="Segoe UI"/>
              </a:rPr>
              <a:t>1,245 GWh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457200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Segoe UI"/>
              </a:rPr>
              <a:t>Total Energy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149840" y="3657600"/>
            <a:ext cx="1737360" cy="1417320"/>
          </a:xfrm>
          <a:prstGeom prst="rect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41280" y="3794760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9E0B"/>
                </a:solidFill>
                <a:latin typeface="Segoe UI"/>
              </a:rPr>
              <a:t>92.68%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457200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Segoe UI"/>
              </a:rPr>
              <a:t>Billing Rate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8FAFC"/>
                </a:solidFill>
                <a:latin typeface="Segoe UI"/>
              </a:rPr>
              <a:t>📋  Project 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70432"/>
            <a:ext cx="11430000" cy="18288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258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8FAFC"/>
                </a:solidFill>
                <a:latin typeface="Segoe UI"/>
              </a:rPr>
              <a:t>  ▸  Dataset Overview &amp; 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7830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8FAFC"/>
                </a:solidFill>
                <a:latin typeface="Segoe UI"/>
              </a:rPr>
              <a:t>  ▸  Dataset Structure — Rows, Columns, Data Types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2402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8FAFC"/>
                </a:solidFill>
                <a:latin typeface="Segoe UI"/>
              </a:rPr>
              <a:t>  ▸  Key Performance Indicators (KPI Summary)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6974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8FAFC"/>
                </a:solidFill>
                <a:latin typeface="Segoe UI"/>
              </a:rPr>
              <a:t>  ▸  Circle-Wise Consumption Rankings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1546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8FAFC"/>
                </a:solidFill>
                <a:latin typeface="Segoe UI"/>
              </a:rPr>
              <a:t>  ▸  Top 20 High-Demand Areas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6118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8FAFC"/>
                </a:solidFill>
                <a:latin typeface="Segoe UI"/>
              </a:rPr>
              <a:t>  ▸  Billing Efficiency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0690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8FAFC"/>
                </a:solidFill>
                <a:latin typeface="Segoe UI"/>
              </a:rPr>
              <a:t>  ▸  Load vs Consumption Correlation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5262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8FAFC"/>
                </a:solidFill>
                <a:latin typeface="Segoe UI"/>
              </a:rPr>
              <a:t>  ▸  Statistical Distributions &amp; KDE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9834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8FAFC"/>
                </a:solidFill>
                <a:latin typeface="Segoe UI"/>
              </a:rPr>
              <a:t>  ▸  Seaborn Correlation Heatmap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4406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8FAFC"/>
                </a:solidFill>
                <a:latin typeface="Segoe UI"/>
              </a:rPr>
              <a:t>  ▸  Data Quality Issues &amp; Outliers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8978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8FAFC"/>
                </a:solidFill>
                <a:latin typeface="Segoe UI"/>
              </a:rPr>
              <a:t>  ▸  Limitations &amp; Conclusions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4465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Segoe U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8FAFC"/>
                </a:solidFill>
                <a:latin typeface="Segoe UI"/>
              </a:rPr>
              <a:t>🗃️  Dataset Overview &amp; 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94A3B8"/>
                </a:solidFill>
                <a:latin typeface="Segoe UI"/>
              </a:rPr>
              <a:t>Each row = one electricity consumption record for a specific area &amp; consumer category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70432"/>
            <a:ext cx="11430000" cy="182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3200400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76680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Segoe UI"/>
              </a:rPr>
              <a:t>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37668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  <a:latin typeface="Segoe UI"/>
              </a:rPr>
              <a:t>TG-SPDCL (Telangana Southern Power Distribution Company Ltd)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819656"/>
            <a:ext cx="3200400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870456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Segoe UI"/>
              </a:rPr>
              <a:t>Period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870456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  <a:latin typeface="Segoe UI"/>
              </a:rPr>
              <a:t>July 2026  •  Domestic Consumer Category Only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313432"/>
            <a:ext cx="3200400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364232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Segoe UI"/>
              </a:rPr>
              <a:t>Rows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364232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  <a:latin typeface="Segoe UI"/>
              </a:rPr>
              <a:t>15,947 sector-level records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807208"/>
            <a:ext cx="3200400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858008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Segoe UI"/>
              </a:rPr>
              <a:t>Columns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858008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  <a:latin typeface="Segoe UI"/>
              </a:rPr>
              <a:t>11 columns (6 categorical, 5 numerical)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300984"/>
            <a:ext cx="3200400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351784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Segoe UI"/>
              </a:rPr>
              <a:t>Coverage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3351784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  <a:latin typeface="Segoe UI"/>
              </a:rPr>
              <a:t>20 Circles  •  49 Divisions  •  131 Subdivisions  •  476 Sections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794760"/>
            <a:ext cx="3200400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845560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Segoe UI"/>
              </a:rPr>
              <a:t>Category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384556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  <a:latin typeface="Segoe UI"/>
              </a:rPr>
              <a:t>DOMESTIC only — No commercial or industrial segments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288536"/>
            <a:ext cx="3200400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339336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Segoe UI"/>
              </a:rPr>
              <a:t>Missing Values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4339336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  <a:latin typeface="Segoe UI"/>
              </a:rPr>
              <a:t>247 in BILLDSERVICES, 47 in AREA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782312"/>
            <a:ext cx="3200400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833112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Segoe UI"/>
              </a:rPr>
              <a:t>Negative Values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4833112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  <a:latin typeface="Segoe UI"/>
              </a:rPr>
              <a:t>15 rows with negative UNITS (billing corrections)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0" y="64465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Segoe U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8FAFC"/>
                </a:solidFill>
                <a:latin typeface="Segoe UI"/>
              </a:rPr>
              <a:t>📋  Dataset Column Descriptions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94A3B8"/>
                </a:solidFill>
                <a:latin typeface="Segoe UI"/>
              </a:rPr>
              <a:t>Categorical: CIRCLE, DIVISION, SUBDIVISION, SECTION, AREA, CATDESC  |  Numerical: CATCODE, TOTSERVICES, BILLDSERVICES, UNITS, LOAD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70432"/>
            <a:ext cx="11430000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3200400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76680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Segoe UI"/>
              </a:rPr>
              <a:t>CIRCLE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37668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  <a:latin typeface="Segoe UI"/>
              </a:rPr>
              <a:t>Top-level geographic region (20 circles)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819656"/>
            <a:ext cx="3200400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870456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Segoe UI"/>
              </a:rPr>
              <a:t>DIVISION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870456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  <a:latin typeface="Segoe UI"/>
              </a:rPr>
              <a:t>Sub-region within a circle (49 divisions)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313432"/>
            <a:ext cx="3200400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364232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Segoe UI"/>
              </a:rPr>
              <a:t>SUBDIVISION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364232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  <a:latin typeface="Segoe UI"/>
              </a:rPr>
              <a:t>Subdivision within division (131 total)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807208"/>
            <a:ext cx="3200400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858008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Segoe UI"/>
              </a:rPr>
              <a:t>SECTION / AREA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858008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  <a:latin typeface="Segoe UI"/>
              </a:rPr>
              <a:t>Smallest geographic unit — neighborhood/locality (476 sections)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300984"/>
            <a:ext cx="3200400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351784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Segoe UI"/>
              </a:rPr>
              <a:t>CATDESC / CATCODE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3351784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  <a:latin typeface="Segoe UI"/>
              </a:rPr>
              <a:t>Consumer category — all DOMESTIC (code=1) in this dataset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794760"/>
            <a:ext cx="3200400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845560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Segoe UI"/>
              </a:rPr>
              <a:t>TOTSERVICES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384556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  <a:latin typeface="Segoe UI"/>
              </a:rPr>
              <a:t>Total registered electricity connections (integer)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288536"/>
            <a:ext cx="3200400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339336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Segoe UI"/>
              </a:rPr>
              <a:t>BILLDSERVICES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4339336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  <a:latin typeface="Segoe UI"/>
              </a:rPr>
              <a:t>Number of actually billed connections (float, has 247 NULLs)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782312"/>
            <a:ext cx="3200400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833112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Segoe UI"/>
              </a:rPr>
              <a:t>UNITS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4833112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  <a:latin typeface="Segoe UI"/>
              </a:rPr>
              <a:t>Total electricity consumed in kWh (float, can be negative)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5276088"/>
            <a:ext cx="3200400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326888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Segoe UI"/>
              </a:rPr>
              <a:t>LOAD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0" y="5326888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  <a:latin typeface="Segoe UI"/>
              </a:rPr>
              <a:t>Sanctioned connected load in kW (float, decimal values)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0" y="64465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Segoe U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8FAFC"/>
                </a:solidFill>
                <a:latin typeface="Segoe UI"/>
              </a:rPr>
              <a:t>📊  Key Performance Indicators — July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22960"/>
            <a:ext cx="11430000" cy="18288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2743200" cy="1554480"/>
          </a:xfrm>
          <a:prstGeom prst="rect">
            <a:avLst/>
          </a:prstGeom>
          <a:solidFill>
            <a:srgbClr val="0F172A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05840"/>
            <a:ext cx="2743200" cy="54864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115568"/>
            <a:ext cx="2523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Total Records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1417320"/>
            <a:ext cx="252374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F2FE"/>
                </a:solidFill>
                <a:latin typeface="Segoe UI"/>
              </a:rPr>
              <a:t>15,947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2148840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Sector-level area records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64408" y="1005840"/>
            <a:ext cx="2743200" cy="1554480"/>
          </a:xfrm>
          <a:prstGeom prst="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64408" y="1005840"/>
            <a:ext cx="27432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74136" y="1115568"/>
            <a:ext cx="2523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Electricity Circles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74136" y="1417320"/>
            <a:ext cx="252374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0B981"/>
                </a:solidFill>
                <a:latin typeface="Segoe UI"/>
              </a:rPr>
              <a:t>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74136" y="2148840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20 circles, 49 divisions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08776" y="1005840"/>
            <a:ext cx="2743200" cy="1554480"/>
          </a:xfrm>
          <a:prstGeom prst="rect">
            <a:avLst/>
          </a:prstGeom>
          <a:solidFill>
            <a:srgbClr val="0F172A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08776" y="1005840"/>
            <a:ext cx="2743200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18504" y="1115568"/>
            <a:ext cx="2523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Total Connections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18504" y="1417320"/>
            <a:ext cx="252374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A855F7"/>
                </a:solidFill>
                <a:latin typeface="Segoe UI"/>
              </a:rPr>
              <a:t>8,867,827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18504" y="2148840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Registered domestic services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53144" y="1005840"/>
            <a:ext cx="2743200" cy="1554480"/>
          </a:xfrm>
          <a:prstGeom prst="rect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53144" y="1005840"/>
            <a:ext cx="27432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62872" y="1115568"/>
            <a:ext cx="2523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Billed Connections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62872" y="1417320"/>
            <a:ext cx="252374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59E0B"/>
                </a:solidFill>
                <a:latin typeface="Segoe UI"/>
              </a:rPr>
              <a:t>8,218,867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62872" y="2148840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Actually billed services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2724912"/>
            <a:ext cx="2743200" cy="1554480"/>
          </a:xfrm>
          <a:prstGeom prst="rect">
            <a:avLst/>
          </a:prstGeom>
          <a:solidFill>
            <a:srgbClr val="0F172A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2724912"/>
            <a:ext cx="2743200" cy="54864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8" y="2834640"/>
            <a:ext cx="2523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Billing Efficiency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" y="3136392"/>
            <a:ext cx="252374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43F5E"/>
                </a:solidFill>
                <a:latin typeface="Segoe UI"/>
              </a:rPr>
              <a:t>92.68%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" y="3867912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Target: 95%+  |  Gap: ~649K unbilled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64408" y="2724912"/>
            <a:ext cx="2743200" cy="1554480"/>
          </a:xfrm>
          <a:prstGeom prst="rect">
            <a:avLst/>
          </a:prstGeom>
          <a:solidFill>
            <a:srgbClr val="0F172A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64408" y="2724912"/>
            <a:ext cx="2743200" cy="54864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74136" y="2834640"/>
            <a:ext cx="2523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Total Energy (GWh)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74136" y="3136392"/>
            <a:ext cx="252374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F2FE"/>
                </a:solidFill>
                <a:latin typeface="Segoe UI"/>
              </a:rPr>
              <a:t>1,245.52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74136" y="3867912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1.24 billion kWh total monthly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08776" y="2724912"/>
            <a:ext cx="2743200" cy="1554480"/>
          </a:xfrm>
          <a:prstGeom prst="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08776" y="2724912"/>
            <a:ext cx="27432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18504" y="2834640"/>
            <a:ext cx="2523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Total Load (MW)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18504" y="3136392"/>
            <a:ext cx="252374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0B981"/>
                </a:solidFill>
                <a:latin typeface="Segoe UI"/>
              </a:rPr>
              <a:t>13,778.82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18504" y="3867912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Sanctioned connected capacity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53144" y="2724912"/>
            <a:ext cx="2743200" cy="1554480"/>
          </a:xfrm>
          <a:prstGeom prst="rect">
            <a:avLst/>
          </a:prstGeom>
          <a:solidFill>
            <a:srgbClr val="0F172A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153144" y="2724912"/>
            <a:ext cx="2743200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62872" y="2834640"/>
            <a:ext cx="2523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Avg/Household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62872" y="3136392"/>
            <a:ext cx="252374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A855F7"/>
                </a:solidFill>
                <a:latin typeface="Segoe UI"/>
              </a:rPr>
              <a:t>151.5 kWh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62872" y="3867912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Per billed connection monthly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430000" y="64465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Segoe U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8FAFC"/>
                </a:solidFill>
                <a:latin typeface="Segoe UI"/>
              </a:rPr>
              <a:t>Circle-Wise Energy Consumption Rankings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77240"/>
            <a:ext cx="11430000" cy="18288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14400"/>
            <a:ext cx="5486400" cy="5394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058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F2FE"/>
                </a:solidFill>
                <a:latin typeface="Segoe UI"/>
              </a:rPr>
              <a:t>🏆 Top 5 Circles (Highest)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81328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  <a:latin typeface="Segoe UI"/>
              </a:rPr>
              <a:t>▸  Medchal — 141.7M units (11.4%)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38528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  <a:latin typeface="Segoe UI"/>
              </a:rPr>
              <a:t>▸  Habsiguda — 138.1M units (11.1%)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395728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  <a:latin typeface="Segoe UI"/>
              </a:rPr>
              <a:t>▸  Cybercity — 125.4M units (10.1%)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52928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  <a:latin typeface="Segoe UI"/>
              </a:rPr>
              <a:t>▸  Hyderabad Central — 112.5M (9.0%)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310128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  <a:latin typeface="Segoe UI"/>
              </a:rPr>
              <a:t>▸  Saroornagar — 112.3M units (9.0%)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767328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  <a:latin typeface="Segoe UI"/>
              </a:rPr>
              <a:t>▸  Top 10 circles ≈ 90% of all units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914400"/>
            <a:ext cx="5806440" cy="5394960"/>
          </a:xfrm>
          <a:prstGeom prst="rect">
            <a:avLst/>
          </a:prstGeom>
          <a:solidFill>
            <a:srgbClr val="0F172A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100584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855F7"/>
                </a:solidFill>
                <a:latin typeface="Segoe UI"/>
              </a:rPr>
              <a:t>📉 Bottom 5 Circles (Lowest)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1481328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  <a:latin typeface="Segoe UI"/>
              </a:rPr>
              <a:t>▸  Gadwal — 10.0M units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1938528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  <a:latin typeface="Segoe UI"/>
              </a:rPr>
              <a:t>▸  Wanaparthy — 10.1M units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395728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  <a:latin typeface="Segoe UI"/>
              </a:rPr>
              <a:t>▸  Nagarkurnool — 13.1M units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852928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  <a:latin typeface="Segoe UI"/>
              </a:rPr>
              <a:t>▸  Medak — 15.9M units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3310128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  <a:latin typeface="Segoe UI"/>
              </a:rPr>
              <a:t>▸  Vikarabad — 17.9M units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3767328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  <a:latin typeface="Segoe UI"/>
              </a:rPr>
              <a:t>▸  District circles use ~⅓ per service vs Banjara Hills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64465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Segoe U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8FAFC"/>
                </a:solidFill>
                <a:latin typeface="Segoe UI"/>
              </a:rPr>
              <a:t>🔌  Average Consumption Per Billed Connection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94A3B8"/>
                </a:solidFill>
                <a:latin typeface="Segoe UI"/>
              </a:rPr>
              <a:t>Urban-rural consumption gap is stark — per-service average reveals intensity better than totals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70432"/>
            <a:ext cx="11430000" cy="1828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258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8FAFC"/>
                </a:solidFill>
                <a:latin typeface="Segoe UI"/>
              </a:rPr>
              <a:t>  ▸  Banjara Hills — ~240 units/service  (luxury residential, high-value areas)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830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8FAFC"/>
                </a:solidFill>
                <a:latin typeface="Segoe UI"/>
              </a:rPr>
              <a:t>  ▸  Cybercity — ~219 units/service  (tech/IT zone proximity)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2402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8FAFC"/>
                </a:solidFill>
                <a:latin typeface="Segoe UI"/>
              </a:rPr>
              <a:t>  ▸  Hyderabad Central — ~217 units/service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6974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8FAFC"/>
                </a:solidFill>
                <a:latin typeface="Segoe UI"/>
              </a:rPr>
              <a:t>  ▸  Secunderabad — ~194 units/service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1546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8FAFC"/>
                </a:solidFill>
                <a:latin typeface="Segoe UI"/>
              </a:rPr>
              <a:t>  ▸  District circles (Wanaparthy, Nagarkurnool, Vikarabad) — ~75 to 83 units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6118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8FAFC"/>
                </a:solidFill>
                <a:latin typeface="Segoe UI"/>
              </a:rPr>
              <a:t>  ▸  Hyderabad-region circles use ~2x more per service than district circles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0690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8FAFC"/>
                </a:solidFill>
                <a:latin typeface="Segoe UI"/>
              </a:rPr>
              <a:t>  ▸  Top divisions: Kukatpally (62M), Sainikpuri (55.2M), Saroornagar (52.8M)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5262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8FAFC"/>
                </a:solidFill>
                <a:latin typeface="Segoe UI"/>
              </a:rPr>
              <a:t>  ▸  Largest single areas: Hydernagar (2.32M), Moosapet (1.81M), Vinayaknagar (1.47M)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4465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Segoe U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8FAFC"/>
                </a:solidFill>
                <a:latin typeface="Segoe UI"/>
              </a:rPr>
              <a:t>📈  Circle-Wise Consumption (GWh) &amp; Sanctioned Load (MW)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49808"/>
            <a:ext cx="11430000" cy="18288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ircle_consump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41248"/>
            <a:ext cx="11338560" cy="5349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29107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94A3B8"/>
                </a:solidFill>
                <a:latin typeface="Segoe UI"/>
              </a:rPr>
              <a:t>Cyan bars = Energy consumed (GWh) | Purple line = Connected load (MW) — sorted highest to lowest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465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Segoe U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8FAFC"/>
                </a:solidFill>
                <a:latin typeface="Segoe UI"/>
              </a:rPr>
              <a:t>📈  Top 20 Highest Electricity Consuming Areas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49808"/>
            <a:ext cx="11430000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op20_are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41248"/>
            <a:ext cx="11338560" cy="5349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29107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94A3B8"/>
                </a:solidFill>
                <a:latin typeface="Segoe UI"/>
              </a:rPr>
              <a:t>Seaborn barplot with hue by circle — Top areas are Hydernagar, Moosapet &amp; Vinayaknagar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465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Segoe U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8FAFC"/>
                </a:solidFill>
                <a:latin typeface="Segoe UI"/>
              </a:rPr>
              <a:t>📈  Circle Billing Efficiency (%) vs 95% Benchmark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49808"/>
            <a:ext cx="11430000" cy="1828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illing_effici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41248"/>
            <a:ext cx="11338560" cy="5349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29107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94A3B8"/>
                </a:solidFill>
                <a:latin typeface="Segoe UI"/>
              </a:rPr>
              <a:t>Seaborn palette — Amber dashed line = 95% target. Red/orange bars indicate circles needing attention.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465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8FAFC"/>
                </a:solidFill>
                <a:latin typeface="Segoe UI"/>
              </a:rPr>
              <a:t>📈  Connected Load vs Units Consumed — Seaborn Regplot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49808"/>
            <a:ext cx="11430000" cy="182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ad_vs_un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41248"/>
            <a:ext cx="11338560" cy="5349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29107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94A3B8"/>
                </a:solidFill>
                <a:latin typeface="Segoe UI"/>
              </a:rPr>
              <a:t>Strong positive linear correlation (r ≈ 0.95) — Areas with higher load reliably show higher consumption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465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8FAFC"/>
                </a:solidFill>
                <a:latin typeface="Segoe UI"/>
              </a:rPr>
              <a:t>📈  Statistical Distributions — Seaborn Histplot + KDE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49808"/>
            <a:ext cx="11430000" cy="1828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istribution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41248"/>
            <a:ext cx="11338560" cy="5349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29107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94A3B8"/>
                </a:solidFill>
                <a:latin typeface="Segoe UI"/>
              </a:rPr>
              <a:t>Left: Household consumption is right-skewed (median ~90 kWh) | Right: Billing efficiency peaks near 97–100%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465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8FAFC"/>
                </a:solidFill>
                <a:latin typeface="Segoe UI"/>
              </a:rPr>
              <a:t>Data Quality Issues &amp; Outliers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77240"/>
            <a:ext cx="11430000" cy="1828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14400"/>
            <a:ext cx="5486400" cy="5394960"/>
          </a:xfrm>
          <a:prstGeom prst="rect">
            <a:avLst/>
          </a:prstGeom>
          <a:solidFill>
            <a:srgbClr val="0F172A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058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43F5E"/>
                </a:solidFill>
                <a:latin typeface="Segoe UI"/>
              </a:rPr>
              <a:t>⚠️ Data Issues Found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81328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  <a:latin typeface="Segoe UI"/>
              </a:rPr>
              <a:t>▸  247 missing BILLDSERVICES — all have 0 UNITS (inactive areas)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38528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  <a:latin typeface="Segoe UI"/>
              </a:rPr>
              <a:t>▸  47 missing AREA names — filled as 'UNKNOWN AREA'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395728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  <a:latin typeface="Segoe UI"/>
              </a:rPr>
              <a:t>▸  15 rows with negative UNITS (billing corrections/adjustments)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52928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  <a:latin typeface="Segoe UI"/>
              </a:rPr>
              <a:t>▸  1,999 duplicate AREA names across different sections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310128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  <a:latin typeface="Segoe UI"/>
              </a:rPr>
              <a:t>▸  Largest record: 2.32M units vs median 37,000 (extreme outlier)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767328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  <a:latin typeface="Segoe UI"/>
              </a:rPr>
              <a:t>▸  Load range: 0 kW to 33,617 kW (household averages vary widely)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914400"/>
            <a:ext cx="5806440" cy="5394960"/>
          </a:xfrm>
          <a:prstGeom prst="rect">
            <a:avLst/>
          </a:prstGeom>
          <a:solidFill>
            <a:srgbClr val="0F172A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100584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855F7"/>
                </a:solidFill>
                <a:latin typeface="Segoe UI"/>
              </a:rPr>
              <a:t>🔧 Cleaning Strategy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1481328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  <a:latin typeface="Segoe UI"/>
              </a:rPr>
              <a:t>▸  NaN BILLDSERVICES → imputed from TOTSERVICES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1938528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  <a:latin typeface="Segoe UI"/>
              </a:rPr>
              <a:t>▸  Negative UNITS → clipped to 0 (treated as corrections)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395728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  <a:latin typeface="Segoe UI"/>
              </a:rPr>
              <a:t>▸  Outliers retained with flagging — valid high-consumption areas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852928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  <a:latin typeface="Segoe UI"/>
              </a:rPr>
              <a:t>▸  Duplicates are geographic labels, NOT duplicate records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3310128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  <a:latin typeface="Segoe UI"/>
              </a:rPr>
              <a:t>▸  1.5 × IQR outlier method used for identification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3767328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  <a:latin typeface="Segoe UI"/>
              </a:rPr>
              <a:t>▸  Zero-consumption rows kept — may be seasonal / inactive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64465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8FAFC"/>
                </a:solidFill>
                <a:latin typeface="Segoe UI"/>
              </a:rPr>
              <a:t>🔍  Key Patterns &amp; Analytical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94A3B8"/>
                </a:solidFill>
                <a:latin typeface="Segoe UI"/>
              </a:rPr>
              <a:t>Pattern: Consumption is concentrated — a small fraction of areas drives the majority of demand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70432"/>
            <a:ext cx="11430000" cy="18288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258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8FAFC"/>
                </a:solidFill>
                <a:latin typeface="Segoe UI"/>
              </a:rPr>
              <a:t>  ▸  Consumption is strongly urban — top 10 Hyderabad circles = ~90% of all units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830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8FAFC"/>
                </a:solidFill>
                <a:latin typeface="Segoe UI"/>
              </a:rPr>
              <a:t>  ▸  Top 10% of areas by size = ~43% of total electricity consumed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2402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8FAFC"/>
                </a:solidFill>
                <a:latin typeface="Segoe UI"/>
              </a:rPr>
              <a:t>  ▸  Areas labelled 'DOMESTIC HT', 'CT', 'HV' show 3,000–11,500 units/service (bulk connections)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6974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8FAFC"/>
                </a:solidFill>
                <a:latin typeface="Segoe UI"/>
              </a:rPr>
              <a:t>  ▸  Several THANDA (tribal hamlet) areas in Nalgonda/Suryapet show near-zero consumption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1546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8FAFC"/>
                </a:solidFill>
                <a:latin typeface="Segoe UI"/>
              </a:rPr>
              <a:t>  ▸  Units &amp; Load are highly correlated (r ≈ 0.95) — load is a reliable predictor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6118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8FAFC"/>
                </a:solidFill>
                <a:latin typeface="Segoe UI"/>
              </a:rPr>
              <a:t>  ▸  Billing efficiency gap: 92.68% vs 95% target → ~649,000 connections unbilled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0690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8FAFC"/>
                </a:solidFill>
                <a:latin typeface="Segoe UI"/>
              </a:rPr>
              <a:t>  ▸  The 2,452 largest areas (~15% of all) account for 50.5% of total units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5262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8FAFC"/>
                </a:solidFill>
                <a:latin typeface="Segoe UI"/>
              </a:rPr>
              <a:t>  ▸  Sort descending by per-service avg reveals 'HT/HV' bulk consumers billed as domestic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4465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8FAFC"/>
                </a:solidFill>
                <a:latin typeface="Segoe UI"/>
              </a:rPr>
              <a:t>Technology Stack &amp; Tools Used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77240"/>
            <a:ext cx="11430000" cy="182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14400"/>
            <a:ext cx="5486400" cy="5394960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058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0B981"/>
                </a:solidFill>
                <a:latin typeface="Segoe UI"/>
              </a:rPr>
              <a:t>🐍 Python Libraries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81328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  <a:latin typeface="Segoe UI"/>
              </a:rPr>
              <a:t>▸  Pandas — data loading, cleaning, aggregation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38528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  <a:latin typeface="Segoe UI"/>
              </a:rPr>
              <a:t>▸  NumPy — vectorized feature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395728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  <a:latin typeface="Segoe UI"/>
              </a:rPr>
              <a:t>▸  Matplotlib — publication-quality static plots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52928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  <a:latin typeface="Segoe UI"/>
              </a:rPr>
              <a:t>▸  Seaborn — statistical visualizations &amp; KDE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310128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  <a:latin typeface="Segoe UI"/>
              </a:rPr>
              <a:t>▸  python-pptx — automated PPT generation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767328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  <a:latin typeface="Segoe UI"/>
              </a:rPr>
              <a:t>▸  json — dashboard data export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914400"/>
            <a:ext cx="5806440" cy="5394960"/>
          </a:xfrm>
          <a:prstGeom prst="rect">
            <a:avLst/>
          </a:prstGeom>
          <a:solidFill>
            <a:srgbClr val="0F172A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100584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855F7"/>
                </a:solidFill>
                <a:latin typeface="Segoe UI"/>
              </a:rPr>
              <a:t>🌐 Web 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1481328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  <a:latin typeface="Segoe UI"/>
              </a:rPr>
              <a:t>▸  HTML5 + CSS3 — dark-mode glassmorphism UI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1938528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  <a:latin typeface="Segoe UI"/>
              </a:rPr>
              <a:t>▸  Chart.js — interactive bar, line, scatter charts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395728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  <a:latin typeface="Segoe UI"/>
              </a:rPr>
              <a:t>▸  JavaScript — dynamic filtering &amp; pagination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852928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  <a:latin typeface="Segoe UI"/>
              </a:rPr>
              <a:t>▸  KPI Cards — real-time metric calculations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3310128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  <a:latin typeface="Segoe UI"/>
              </a:rPr>
              <a:t>▸  Anomaly Alerts — billing efficiency flags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3767328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  <a:latin typeface="Segoe UI"/>
              </a:rPr>
              <a:t>▸  CSV Export — one-click filtered data download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64465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8FAFC"/>
                </a:solidFill>
                <a:latin typeface="Segoe UI"/>
              </a:rPr>
              <a:t>⚠️  Dataset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94A3B8"/>
                </a:solidFill>
                <a:latin typeface="Segoe UI"/>
              </a:rPr>
              <a:t>Limitations define the boundary of conclusions — always qualify findings accordingly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70432"/>
            <a:ext cx="11430000" cy="1828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258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8FAFC"/>
                </a:solidFill>
                <a:latin typeface="Segoe UI"/>
              </a:rPr>
              <a:t>  ▸  No time-series data — only July 2026 snapshot; cannot track trends over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830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8FAFC"/>
                </a:solidFill>
                <a:latin typeface="Segoe UI"/>
              </a:rPr>
              <a:t>  ▸  Domestic only — commercial &amp; industrial sectors excluded; total demand picture incomplete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2402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8FAFC"/>
                </a:solidFill>
                <a:latin typeface="Segoe UI"/>
              </a:rPr>
              <a:t>  ▸  No weather/temperature data to explain seasonal consumption peaks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6974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8FAFC"/>
                </a:solidFill>
                <a:latin typeface="Segoe UI"/>
              </a:rPr>
              <a:t>  ▸  No household-level info — income, family size, or appliance usage unknown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1546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8FAFC"/>
                </a:solidFill>
                <a:latin typeface="Segoe UI"/>
              </a:rPr>
              <a:t>  ▸  No socioeconomic data — cannot correlate consumption with poverty/development level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6118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8FAFC"/>
                </a:solidFill>
                <a:latin typeface="Segoe UI"/>
              </a:rPr>
              <a:t>  ▸  1,999 repeated AREA names — geographic deduplication needed for spatial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0690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8FAFC"/>
                </a:solidFill>
                <a:latin typeface="Segoe UI"/>
              </a:rPr>
              <a:t>  ▸  Negative UNITS (~15 rows) — billing adjustments, not actual negative consumption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5262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8FAFC"/>
                </a:solidFill>
                <a:latin typeface="Segoe UI"/>
              </a:rPr>
              <a:t>  ▸  HT/HV 'domestic' rows — bulk consumers may inflate domestic category averages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4465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8FAFC"/>
                </a:solidFill>
                <a:latin typeface="Segoe UI"/>
              </a:rPr>
              <a:t>✅  Conclusion &amp; 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68680"/>
            <a:ext cx="114300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11338560" cy="493776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693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8FAFC"/>
                </a:solidFill>
                <a:latin typeface="Segoe UI"/>
              </a:rPr>
              <a:t>✔  Urban concentration: Top 10 Hyderabad circles = 90% of total consumption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572768"/>
            <a:ext cx="11338560" cy="493776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6362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8FAFC"/>
                </a:solidFill>
                <a:latin typeface="Segoe UI"/>
              </a:rPr>
              <a:t>✔  Per-service average reveals Banjara Hills (240 kWh) is ~3× higher than district circles (~80 kWh)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139696"/>
            <a:ext cx="11338560" cy="493776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203196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8FAFC"/>
                </a:solidFill>
                <a:latin typeface="Segoe UI"/>
              </a:rPr>
              <a:t>✔  Billing efficiency at 92.68% — 649,000 unbilled connections represent revenue loss opportunity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706624"/>
            <a:ext cx="11338560" cy="493776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770124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8FAFC"/>
                </a:solidFill>
                <a:latin typeface="Segoe UI"/>
              </a:rPr>
              <a:t>✔  Load and consumption are strongly correlated (r ≈ 0.95) — load data is a reliable proxy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273552"/>
            <a:ext cx="11338560" cy="493776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3370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8FAFC"/>
                </a:solidFill>
                <a:latin typeface="Segoe UI"/>
              </a:rPr>
              <a:t>✔  Top 15% of areas (by size) consume over 50% of all electricity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617720"/>
            <a:ext cx="11338560" cy="777240"/>
          </a:xfrm>
          <a:prstGeom prst="rect">
            <a:avLst/>
          </a:prstGeom>
          <a:solidFill>
            <a:srgbClr val="1E293B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681728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F2FE"/>
                </a:solidFill>
                <a:latin typeface="Segoe UI"/>
              </a:rPr>
              <a:t>🔗  GitHub Repository: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468172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  <a:latin typeface="Segoe UI"/>
              </a:rPr>
              <a:t>https://github.com/arjunkanukuntla/dav-project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56235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9E0B"/>
                </a:solidFill>
                <a:latin typeface="Segoe UI"/>
              </a:rPr>
              <a:t>Thank You  •  D.Chander  •  K.Arjun  •  P.Sachin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0807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Segoe UI"/>
              </a:rPr>
              <a:t>Roll No: 2503A52214  •  2503A52235  •  2503A52240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64465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