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132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1097280"/>
            <a:ext cx="3504895" cy="4937760"/>
          </a:xfrm>
          <a:prstGeom prst="rect">
            <a:avLst/>
          </a:prstGeom>
          <a:solidFill>
            <a:srgbClr val="18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4114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3108960" cy="320040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DATA ANALYTICS &amp; VISUALIZATION (DAV)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Electricity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D8"/>
                </a:solidFill>
                <a:latin typeface="Calibri"/>
              </a:rPr>
              <a:t>&amp; Monitoring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4A3B8"/>
                </a:solidFill>
                <a:latin typeface="Calibri"/>
              </a:rPr>
              <a:t>TG-SPDCL Domestic Consumer Dataset (July 2026) | Complete 8-Pillar Syllabus Synthesis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6400800" cy="2468880"/>
          </a:xfrm>
          <a:prstGeom prst="roundRect">
            <a:avLst>
              <a:gd name="adj" fmla="val 4000"/>
            </a:avLst>
          </a:prstGeom>
          <a:solidFill>
            <a:srgbClr val="13244E"/>
          </a:solidFill>
          <a:ln w="9525">
            <a:solidFill>
              <a:srgbClr val="007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611880"/>
            <a:ext cx="64008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PROJECT RESEARCH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D. Chander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0873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Roll: 2503A52214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0873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Data Cleaning, Wrangling &amp; Power Query ETL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K. Arjun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6817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Roll: 2503A52235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68172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Seaborn Visualizations, Correlations &amp; Heatmaps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P. Sachin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2760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Roll: 2503A52240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2760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Statistical Modeling, Pareto Analysis &amp; Final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960120"/>
            <a:ext cx="3657600" cy="111556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960120"/>
            <a:ext cx="73152" cy="11155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0698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15,947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47218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alibri"/>
              </a:rPr>
              <a:t>SECTOR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7099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20 Circles | 49 Divisions | 476 Sections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240280"/>
            <a:ext cx="3657600" cy="111556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2240280"/>
            <a:ext cx="73152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3500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8.87M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5234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TOTAL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99008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8.22M Active Billed Connections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520440"/>
            <a:ext cx="3657600" cy="111556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520440"/>
            <a:ext cx="73152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6301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1,245.5 GWh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03250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ENERGY CONSUMED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2702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1.245 Billion kWh Total Monthly Demand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800600"/>
            <a:ext cx="3657600" cy="111556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800600"/>
            <a:ext cx="73152" cy="11155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9103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92.68%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31266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BILLING 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55040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648,960 Unbilled Services Identified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83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583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3108960" cy="228600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PILLARS 1 &amp; 2: PROJECT EXPLANATION &amp;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Utility Context, 5-Tier Grid Hierarchy &amp; Complete Column Data Dictionary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8096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Structural mapping of TG-SPDCL domestic distribution network and data quality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65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B4D8"/>
                </a:solidFill>
                <a:latin typeface="Calibri"/>
              </a:rPr>
              <a:t>TG-SPDCL | DAV Project v5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Executive 7-Slide Master Edition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30352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5303520" cy="320040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8930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Pillar 1: Utility Context &amp; Grid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581912"/>
            <a:ext cx="50292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Organization: </a:t>
            </a:r>
            <a:r>
              <a:rPr b="0" sz="900">
                <a:solidFill>
                  <a:srgbClr val="64748B"/>
                </a:solidFill>
                <a:latin typeface="Calibri"/>
              </a:rPr>
              <a:t>Telangana Southern Power Distribution Company Limited (TG-SPDCL).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5-Tier Network Flow: </a:t>
            </a:r>
            <a:r>
              <a:rPr b="0" sz="900">
                <a:solidFill>
                  <a:srgbClr val="64748B"/>
                </a:solidFill>
                <a:latin typeface="Calibri"/>
              </a:rPr>
              <a:t>20 Circles → 49 Divisions → 131 Subdivisions → 476 Sections → 15,947 Areas.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Consumer Category: </a:t>
            </a:r>
            <a:r>
              <a:rPr b="0" sz="900">
                <a:solidFill>
                  <a:srgbClr val="64748B"/>
                </a:solidFill>
                <a:latin typeface="Calibri"/>
              </a:rPr>
              <a:t>Domestic Category 1 (`CATCODE: 1`, `CATDESC: DOMESTIC`) for July 2026 cycle.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Grid Relevance: </a:t>
            </a:r>
            <a:r>
              <a:rPr b="0" sz="900">
                <a:solidFill>
                  <a:srgbClr val="64748B"/>
                </a:solidFill>
                <a:latin typeface="Calibri"/>
              </a:rPr>
              <a:t>Domestic power accounts for &gt;40% of urban peak load during summer/monsoon.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303520" cy="32004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953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Operational 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87952"/>
            <a:ext cx="50292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High Unbilled Gap: </a:t>
            </a:r>
            <a:r>
              <a:rPr b="0" sz="900">
                <a:solidFill>
                  <a:srgbClr val="64748B"/>
                </a:solidFill>
                <a:latin typeface="Calibri"/>
              </a:rPr>
              <a:t>648,960 services unbilled in a single month (~7.32% unbilled rate), leaking revenue.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Severe Load Concentration: </a:t>
            </a:r>
            <a:r>
              <a:rPr b="0" sz="900">
                <a:solidFill>
                  <a:srgbClr val="64748B"/>
                </a:solidFill>
                <a:latin typeface="Calibri"/>
              </a:rPr>
              <a:t>Heavy air-conditioning clusters in western Hyderabad strain local distribution transformers.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Data Hygiene Challenges: </a:t>
            </a:r>
            <a:r>
              <a:rPr b="0" sz="900">
                <a:solidFill>
                  <a:srgbClr val="64748B"/>
                </a:solidFill>
                <a:latin typeface="Calibri"/>
              </a:rPr>
              <a:t>Missing records, negative unit reversals, and repeated naming across sections.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35040" y="1234440"/>
          <a:ext cx="5760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3474720"/>
              </a:tblGrid>
              <a:tr h="266007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Role / Meaning in Analysis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CIRCLE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Administrative zone (20 unique zones)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DIVISION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Operational district division (49 unique)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SUBDIVISION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Field maintenance engineering zone (131)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Local billing station &amp; line office (476)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Micro neighborhood colony (15,947 rows)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CATDESC/CODE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Cat/Int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Category 1 DOMESTIC tariff identifier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TOTSERVICES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Registered domestic consumer connections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BILLDSERVICES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Float/Int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Active billed connections in July 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Metered energy consumption in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1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Sanctioned connected load capacity in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035040" y="4297680"/>
            <a:ext cx="5699455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4297680"/>
            <a:ext cx="5699455" cy="32004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352544"/>
            <a:ext cx="54251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Pillar 2: Data Quality Audit &amp; Anomaly Profiling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645152"/>
            <a:ext cx="5425135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247 Missing BILLDSERVICES: </a:t>
            </a:r>
            <a:r>
              <a:rPr b="0" sz="900">
                <a:solidFill>
                  <a:srgbClr val="64748B"/>
                </a:solidFill>
                <a:latin typeface="Calibri"/>
              </a:rPr>
              <a:t>Discovery: 100% of these 247 rows have exactly 0 units (dormant/uncommissioned lines).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47 Missing AREA Names: </a:t>
            </a:r>
            <a:r>
              <a:rPr b="0" sz="900">
                <a:solidFill>
                  <a:srgbClr val="64748B"/>
                </a:solidFill>
                <a:latin typeface="Calibri"/>
              </a:rPr>
              <a:t>Handled via string imputation as 'UNKNOWN AREA' without losing geographic hierarchy.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15 Negative UNIT Records: </a:t>
            </a:r>
            <a:r>
              <a:rPr b="0" sz="900">
                <a:solidFill>
                  <a:srgbClr val="64748B"/>
                </a:solidFill>
                <a:latin typeface="Calibri"/>
              </a:rPr>
              <a:t>Min -1,703 kWh (billing reversal adjustments); clamped to 0.0 in analytics pipeline.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1,999 Repeated Area Names: </a:t>
            </a:r>
            <a:r>
              <a:rPr b="0" sz="900">
                <a:solidFill>
                  <a:srgbClr val="64748B"/>
                </a:solidFill>
                <a:latin typeface="Calibri"/>
              </a:rPr>
              <a:t>'MAIN ROAD' &amp; 'GANDHI NAGAR' repeat; composite keys (`section_area`) enforce identity.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83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3108960" cy="228600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PILLAR 3: BASIC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Statistical Dispersion, Regional Rankings &amp; The 15% / 50.5% Pareto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8096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Parametric vs median skewness, urban-rural lifestyle gap, and demand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65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B4D8"/>
                </a:solidFill>
                <a:latin typeface="Calibri"/>
              </a:rPr>
              <a:t>TG-SPDCL | DAV Project v5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Executive 7-Slide Master Edition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23444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468880"/>
                <a:gridCol w="2286000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Statistical Indicator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Total Services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Billed Services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Consumption (kWh)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Connected Load (kW)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Mean (Average)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556.1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523.0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78,103.6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864.04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Std Deviation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626.2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605.8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112,930.4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1,529.57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Minimum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-1,703.0 (Anomalous)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0.12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25th Percentile (Q1)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152.0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138.0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11,312.0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86.00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50th Percentile (Median)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382.0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345.0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36,826.0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316.00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75th Percentile (Q3)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735.5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690.0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102,405.5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1,058.15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Maximum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12,182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11,886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2,319,144.0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33,617.69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3886200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886200"/>
            <a:ext cx="5486400" cy="32004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94106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Pareto Principle: Area-Size Tier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33672"/>
            <a:ext cx="52120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Very Large Areas (&gt;1,000 services): </a:t>
            </a:r>
            <a:r>
              <a:rPr b="0" sz="900">
                <a:solidFill>
                  <a:srgbClr val="64748B"/>
                </a:solidFill>
                <a:latin typeface="Calibri"/>
              </a:rPr>
              <a:t>2,452 areas (15.4% of total) account for 50.5% (629.0 GWh) of all electricity consumed.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Large Areas (501–1,000 services): </a:t>
            </a:r>
            <a:r>
              <a:rPr b="0" sz="900">
                <a:solidFill>
                  <a:srgbClr val="64748B"/>
                </a:solidFill>
                <a:latin typeface="Calibri"/>
              </a:rPr>
              <a:t>3,810 areas (23.9% count) account for 24.2% (301.4 GWh) of total demand.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Medium Areas (201–500 services): </a:t>
            </a:r>
            <a:r>
              <a:rPr b="0" sz="900">
                <a:solidFill>
                  <a:srgbClr val="64748B"/>
                </a:solidFill>
                <a:latin typeface="Calibri"/>
              </a:rPr>
              <a:t>5,120 areas (32.1% count) account for 18.1% (225.4 GWh).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Small Areas (1–200 services): </a:t>
            </a:r>
            <a:r>
              <a:rPr b="0" sz="900">
                <a:solidFill>
                  <a:srgbClr val="64748B"/>
                </a:solidFill>
                <a:latin typeface="Calibri"/>
              </a:rPr>
              <a:t>4,565 areas (28.6% count) account for only 7.2% (89.7 GWh).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Utility Takeaway: </a:t>
            </a:r>
            <a:r>
              <a:rPr b="0" sz="900">
                <a:solidFill>
                  <a:srgbClr val="64748B"/>
                </a:solidFill>
                <a:latin typeface="Calibri"/>
              </a:rPr>
              <a:t>Focusing grid upgrades on the top 15% sectors stabilizes more than half the entire utility 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516575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3886200"/>
            <a:ext cx="5516575" cy="320040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41064"/>
            <a:ext cx="52422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Geographic Rankings &amp; The 3× Lifestyle Consumption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233672"/>
            <a:ext cx="5242255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Top 5 Circles Consume 50.6%: </a:t>
            </a:r>
            <a:r>
              <a:rPr b="0" sz="900">
                <a:solidFill>
                  <a:srgbClr val="64748B"/>
                </a:solidFill>
                <a:latin typeface="Calibri"/>
              </a:rPr>
              <a:t>Medchal (141.7M), Habsiguda (138.1M), Cybercity (125.4M), Hyd Central (112.5M), Saroornagar (112.3M).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Bottom 5 Circles &lt; 1.5% Each: </a:t>
            </a:r>
            <a:r>
              <a:rPr b="0" sz="900">
                <a:solidFill>
                  <a:srgbClr val="64748B"/>
                </a:solidFill>
                <a:latin typeface="Calibri"/>
              </a:rPr>
              <a:t>Gadwal (10.0M), Wanaparthy (10.1M), Nagarkurnool (13.1M), Medak (15.9M), Vikarabad (17.9M).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Lifestyle Consumption Disparity: </a:t>
            </a:r>
            <a:r>
              <a:rPr b="0" sz="900">
                <a:solidFill>
                  <a:srgbClr val="64748B"/>
                </a:solidFill>
                <a:latin typeface="Calibri"/>
              </a:rPr>
              <a:t>Banjara Hills (240 kWh) &amp; Cybercity (219 kWh) vs Rural Districts (75–83 kWh) — a 3× living standard gap.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Extreme Right Skewness: </a:t>
            </a:r>
            <a:r>
              <a:rPr b="0" sz="900">
                <a:solidFill>
                  <a:srgbClr val="64748B"/>
                </a:solidFill>
                <a:latin typeface="Calibri"/>
              </a:rPr>
              <a:t>Max sector Hydernagar (2.32M kWh) is 63× greater than the state median (36.8k kWh).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83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3108960" cy="228600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PILLARS 4 &amp; 5: WRANGLING &amp; VARIABLE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6-Step ETL Pipeline, Feature Engineering &amp; Load-Units Regression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8096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Transforming raw billing data and modeling physical dependencies between load and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65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B4D8"/>
                </a:solidFill>
                <a:latin typeface="Calibri"/>
              </a:rPr>
              <a:t>TG-SPDCL | DAV Project v5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Executive 7-Slide Master Edition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5303520" cy="320040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8930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Pillar 4: 6-Step Data Wrangling (ETL)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581912"/>
            <a:ext cx="50292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1. Ingestion &amp; Merging: </a:t>
            </a:r>
            <a:r>
              <a:rPr b="0" sz="900">
                <a:solidFill>
                  <a:srgbClr val="64748B"/>
                </a:solidFill>
                <a:latin typeface="Calibri"/>
              </a:rPr>
              <a:t>Multi-file CSV/Excel loading via Power Query &amp; Pandas read_csv.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2. Null Treatment: </a:t>
            </a:r>
            <a:r>
              <a:rPr b="0" sz="900">
                <a:solidFill>
                  <a:srgbClr val="64748B"/>
                </a:solidFill>
                <a:latin typeface="Calibri"/>
              </a:rPr>
              <a:t>Impute 47 area names; replace 247 missing billed services with 0.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3. Anomaly Clamping: </a:t>
            </a:r>
            <a:r>
              <a:rPr b="0" sz="900">
                <a:solidFill>
                  <a:srgbClr val="64748B"/>
                </a:solidFill>
                <a:latin typeface="Calibri"/>
              </a:rPr>
              <a:t>Clamp 15 negative units to 0.0; clamp minimum load to 0.01 kW.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4. Standardize &amp; Validate: </a:t>
            </a:r>
            <a:r>
              <a:rPr b="0" sz="900">
                <a:solidFill>
                  <a:srgbClr val="64748B"/>
                </a:solidFill>
                <a:latin typeface="Calibri"/>
              </a:rPr>
              <a:t>Trim whitespace, cast types (uint32/float64), enforce (Billed &lt;= Total).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5303520" cy="320040"/>
          </a:xfrm>
          <a:prstGeom prst="roundRect">
            <a:avLst>
              <a:gd name="adj" fmla="val 4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2958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Feature Engineered Domain Indicators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22192"/>
            <a:ext cx="502920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Billing Efficiency Rate (%): </a:t>
            </a:r>
            <a:r>
              <a:rPr b="0" sz="900">
                <a:solidFill>
                  <a:srgbClr val="64748B"/>
                </a:solidFill>
                <a:latin typeface="Calibri"/>
              </a:rPr>
              <a:t>`billing_rate_pct = (BILLDSERVICES / TOTSERVICES) * 100` — Tracks revenue capture against 95% target.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Consumption per Connection: </a:t>
            </a:r>
            <a:r>
              <a:rPr b="0" sz="900">
                <a:solidFill>
                  <a:srgbClr val="64748B"/>
                </a:solidFill>
                <a:latin typeface="Calibri"/>
              </a:rPr>
              <a:t>`units_per_billed_service = UNITS / BILLDSERVICES` — Normalizes household living standards without size bias.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Load Utilization Ratio: </a:t>
            </a:r>
            <a:r>
              <a:rPr b="0" sz="900">
                <a:solidFill>
                  <a:srgbClr val="64748B"/>
                </a:solidFill>
                <a:latin typeface="Calibri"/>
              </a:rPr>
              <a:t>`units_per_kw_load = UNITS / LOAD` — Measures transformer strain (&gt;250 kWh/kW flags commercial misuse).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Unbilled Services Gap: </a:t>
            </a:r>
            <a:r>
              <a:rPr b="0" sz="900">
                <a:solidFill>
                  <a:srgbClr val="64748B"/>
                </a:solidFill>
                <a:latin typeface="Calibri"/>
              </a:rPr>
              <a:t>`unbilled_services = TOTSERVICES - BILLDSERVICES` — Identifies 648,960 non-billing accounts for field inspection.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234440"/>
            <a:ext cx="5699455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ad_vs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289304"/>
            <a:ext cx="5589727" cy="2944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89904" y="4206240"/>
            <a:ext cx="55897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2B5A"/>
                </a:solidFill>
                <a:latin typeface="Calibri"/>
              </a:rPr>
              <a:t>Figure: Connected Load (kW) vs Energy Consumed (MWh) with Seaborn Regplot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035040" y="457200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Variable Pair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Correlation (r)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Operational Significance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LOAD ↔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+0.946 (Very Strong)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Connected load capacity directly governs electricity draw.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SERVICES ↔ BILLED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+0.995 (Near Perfect)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Registered connections dictate billed services linearly.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BILLED ↔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+0.884 (Strong)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Customer base volume reliably scales gross energy usage.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A193B"/>
                          </a:solidFill>
                          <a:latin typeface="Calibri"/>
                        </a:rPr>
                        <a:t>SERVICES ↔ 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+0.763 (Moderate-High)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0F172A"/>
                          </a:solidFill>
                          <a:latin typeface="Calibri"/>
                        </a:rPr>
                        <a:t>Sanctioned capacity expands proportionally with connections.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83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3108960" cy="228600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PILLAR 6: EXCEL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Microsoft Excel Analytics: Pivot Tables, Slicers &amp; Chart Visualizations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8096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Rapid ad-hoc exploratory analytics, slicing, clustered columns, and tool capability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65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B4D8"/>
                </a:solidFill>
                <a:latin typeface="Calibri"/>
              </a:rPr>
              <a:t>TG-SPDCL | DAV Project v5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Executive 7-Slide Master Edition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486400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xcel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289304"/>
            <a:ext cx="5376672" cy="4910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2064" y="6172200"/>
            <a:ext cx="5376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2B5A"/>
                </a:solidFill>
                <a:latin typeface="Calibri"/>
              </a:rPr>
              <a:t>Figure: Microsoft Excel Clustered Column &amp; 2D Donut Visualizations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516575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16575" cy="320040"/>
          </a:xfrm>
          <a:prstGeom prst="roundRect">
            <a:avLst>
              <a:gd name="adj" fmla="val 4000"/>
            </a:avLst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89304"/>
            <a:ext cx="52422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Excel Pivot Table &amp; Slicer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581912"/>
            <a:ext cx="5242255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Hierarchical Drill-Down: </a:t>
            </a:r>
            <a:r>
              <a:rPr b="0" sz="900">
                <a:solidFill>
                  <a:srgbClr val="64748B"/>
                </a:solidFill>
                <a:latin typeface="Calibri"/>
              </a:rPr>
              <a:t>Configured Pivot Table rows as CIRCLE &gt; DIVISION &gt; SECTION for fast regional inspection.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Aggregated Indicators: </a:t>
            </a:r>
            <a:r>
              <a:rPr b="0" sz="900">
                <a:solidFill>
                  <a:srgbClr val="64748B"/>
                </a:solidFill>
                <a:latin typeface="Calibri"/>
              </a:rPr>
              <a:t>Sum of UNITS, Sum of LOAD, and Average Units per Billed Service.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Interactive Slicers: </a:t>
            </a:r>
            <a:r>
              <a:rPr b="0" sz="900">
                <a:solidFill>
                  <a:srgbClr val="64748B"/>
                </a:solidFill>
                <a:latin typeface="Calibri"/>
              </a:rPr>
              <a:t>Added slicers for CIRCLE and DIVISION for instant zero-code field station filtering.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Calculated Fields: </a:t>
            </a:r>
            <a:r>
              <a:rPr b="0" sz="900">
                <a:solidFill>
                  <a:srgbClr val="64748B"/>
                </a:solidFill>
                <a:latin typeface="Calibri"/>
              </a:rPr>
              <a:t>Created 'Billing Efficiency %' field within the Pivot Table to benchmark sections against 95%.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Conditional Formatting: </a:t>
            </a:r>
            <a:r>
              <a:rPr b="0" sz="900">
                <a:solidFill>
                  <a:srgbClr val="64748B"/>
                </a:solidFill>
                <a:latin typeface="Calibri"/>
              </a:rPr>
              <a:t>Applied soft red data bars and cell highlights to flag low-billing sections in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516575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516575" cy="320040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95344"/>
            <a:ext cx="52422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Excel Practical Advantages vs Analytical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87952"/>
            <a:ext cx="5242255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Excel Advantages: </a:t>
            </a:r>
            <a:r>
              <a:rPr b="0" sz="900">
                <a:solidFill>
                  <a:srgbClr val="64748B"/>
                </a:solidFill>
                <a:latin typeface="Calibri"/>
              </a:rPr>
              <a:t>Accessible to all utility managers; standard for tariff regulatory filings and rapid ad-hoc slicing.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Scale Constraints: </a:t>
            </a:r>
            <a:r>
              <a:rPr b="0" sz="900">
                <a:solidFill>
                  <a:srgbClr val="64748B"/>
                </a:solidFill>
                <a:latin typeface="Calibri"/>
              </a:rPr>
              <a:t>Performance degrades on multi-million row smart meter telemetry datasets.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Lack of Advanced Statistics: </a:t>
            </a:r>
            <a:r>
              <a:rPr b="0" sz="900">
                <a:solidFill>
                  <a:srgbClr val="64748B"/>
                </a:solidFill>
                <a:latin typeface="Calibri"/>
              </a:rPr>
              <a:t>Cannot natively generate KDE distribution curves, regression confidence intervals, or automated heatmaps.</a:t>
            </a:r>
          </a:p>
          <a:p>
            <a:pPr>
              <a:spcBef>
                <a:spcPts val="250"/>
              </a:spcBef>
              <a:spcAft>
                <a:spcPts val="150"/>
              </a:spcAft>
            </a:pPr>
            <a:r>
              <a:rPr b="1" sz="900">
                <a:solidFill>
                  <a:srgbClr val="0F172A"/>
                </a:solidFill>
                <a:latin typeface="Calibri"/>
              </a:rPr>
              <a:t>•  Reproducibility Risk: </a:t>
            </a:r>
            <a:r>
              <a:rPr b="0" sz="900">
                <a:solidFill>
                  <a:srgbClr val="64748B"/>
                </a:solidFill>
                <a:latin typeface="Calibri"/>
              </a:rPr>
              <a:t>Vulnerable to accidental cell formula overwrites; Python automation guarantees 100% reproducible pipelines.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83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3108960" cy="228600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PILLAR 7: PYTHON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Advanced Python Data Stack: Dual-Axis, Hotspots, Benchmark &amp; Heatmaps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8096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Four publication-grade Matplotlib &amp; Seaborn figures demonstrating complete grid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65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B4D8"/>
                </a:solidFill>
                <a:latin typeface="Calibri"/>
              </a:rPr>
              <a:t>TG-SPDCL | DAV Project v5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Executive 7-Slide Master Edition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3949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rcle_consu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289304"/>
            <a:ext cx="5285232" cy="20756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2064" y="3337560"/>
            <a:ext cx="5285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2B5A"/>
                </a:solidFill>
                <a:latin typeface="Calibri"/>
              </a:rPr>
              <a:t>Fig 1: Circle Consumption (GWh) &amp; Sanctioned Load (MW)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516575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op20_are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289304"/>
            <a:ext cx="5406847" cy="20756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72784" y="3337560"/>
            <a:ext cx="54068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2B5A"/>
                </a:solidFill>
                <a:latin typeface="Calibri"/>
              </a:rPr>
              <a:t>Fig 2: Top 20 Consumption Epicenters (Seaborn Barplot)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53949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illing_effici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758184"/>
            <a:ext cx="5285232" cy="2075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" y="5806440"/>
            <a:ext cx="5285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2B5A"/>
                </a:solidFill>
                <a:latin typeface="Calibri"/>
              </a:rPr>
              <a:t>Fig 3: Circle Billing Efficiency vs 95% Benchmark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03320"/>
            <a:ext cx="5516575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aborn_correlatio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758184"/>
            <a:ext cx="5406847" cy="20756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72784" y="5806440"/>
            <a:ext cx="54068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2B5A"/>
                </a:solidFill>
                <a:latin typeface="Calibri"/>
              </a:rPr>
              <a:t>Fig 4: Seaborn Indicator Correlation Heatmap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080760"/>
            <a:ext cx="11277295" cy="384048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144768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SYNTHESIS: Near-perfect load/consumption symmetry | Hydernagar (2.32M kWh) leads demand | 5 circles lag below 95% target | Multi-collinear load coupling (+0.95)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83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3108960" cy="228600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PILLAR 8: FINAL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Strategic 4-Pillar Action Plan, 3-Phase Implementation &amp; Measurable Business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8096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Operational utility interventions delivering revenue recovery, transformer longevity, and project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65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B4D8"/>
                </a:solidFill>
                <a:latin typeface="Calibri"/>
              </a:rPr>
              <a:t>TG-SPDCL | DAV Project v5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Executive 7-Slide Master Edition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2743200" cy="292608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Pillar 1: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7791"/>
                </a:solidFill>
                <a:latin typeface="Calibri"/>
              </a:rPr>
              <a:t>Focus: Target Top 15%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783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Double transformer capacity in the 2,452 heavy areas driving 50.5% load (Hydernagar, Moosapet).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23444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234440"/>
            <a:ext cx="2743200" cy="292608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280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Pillar 2: Revenue Audits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157276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4444"/>
                </a:solidFill>
                <a:latin typeface="Calibri"/>
              </a:rPr>
              <a:t>Focus: Resolve 648k Unbilled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783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Deploy field squads to audit 247 zero-billed sections and enforce compliance in circles &lt; 90%.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3444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234440"/>
            <a:ext cx="2743200" cy="292608"/>
          </a:xfrm>
          <a:prstGeom prst="roundRect">
            <a:avLst>
              <a:gd name="adj" fmla="val 4000"/>
            </a:avLst>
          </a:prstGeom>
          <a:solidFill>
            <a:srgbClr val="16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280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Pillar 3: Smart Grid AMI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57276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2B5A"/>
                </a:solidFill>
                <a:latin typeface="Calibri"/>
              </a:rPr>
              <a:t>Focus: IoT 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Install smart meters in high-intensity areas (&gt;250 kWh/kW); resolve duplicate names via GIS keys.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23444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98280" y="1234440"/>
            <a:ext cx="2743200" cy="29260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280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Pillar 4: Tariff Reform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157276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Focus: Time-of-Day (ToD)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783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Implement dynamic ToD pricing for connections &gt; 10 kW to flatten evening residential peaks.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383280"/>
            <a:ext cx="361188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3383280"/>
            <a:ext cx="3611880" cy="256032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419856"/>
            <a:ext cx="3429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Phase 1: 30-Day Sprint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675887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Audit 247 zero-billed sections, verify 15 negative units, deploy GIS primary keys.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383280"/>
            <a:ext cx="361188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97680" y="3383280"/>
            <a:ext cx="3611880" cy="256032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419856"/>
            <a:ext cx="3429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Phase 2: 90-Day Expansion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3675887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Upgrade transformers in top 15% areas, install 250k smart meters, launch live dashboard.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383280"/>
            <a:ext cx="361188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8160" y="3383280"/>
            <a:ext cx="3611880" cy="256032"/>
          </a:xfrm>
          <a:prstGeom prst="roundRect">
            <a:avLst>
              <a:gd name="adj" fmla="val 4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419856"/>
            <a:ext cx="3429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Phase 3: 1-Year Transformation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675887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Achieve 97%+ billing efficiency across all circles, launch ToD tariffs, and predictive ML.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754880"/>
            <a:ext cx="11277295" cy="1691640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754880"/>
            <a:ext cx="112772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6460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PROJECTED BUSINESS IMPACT, FINANCIAL ROI &amp; PROJECT CONCLUSION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120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+4.5% Billing Efficiency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3949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FD8DC"/>
                </a:solidFill>
                <a:latin typeface="Calibri"/>
              </a:rPr>
              <a:t>Unlocks ₹85–110 Crore annually by converting unbilled connections to active revenue.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120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-35% Transformer Failures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3949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FD8DC"/>
                </a:solidFill>
                <a:latin typeface="Calibri"/>
              </a:rPr>
              <a:t>Targeted DTR load doubling prevents summer overloads in top 15% demand sectors.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120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100% Feeder Traceability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53949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FD8DC"/>
                </a:solidFill>
                <a:latin typeface="Calibri"/>
              </a:rPr>
              <a:t>Complete elimination of repeated area name ambiguity via GIS composite key tagging.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512064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Research Team Sign-off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53949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FD8DC"/>
                </a:solidFill>
                <a:latin typeface="Calibri"/>
              </a:rPr>
              <a:t>D. Chander (2503A52214), K. Arjun (2503A52235), P. Sachin (2503A52240). Open for Q&amp;A.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583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6583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