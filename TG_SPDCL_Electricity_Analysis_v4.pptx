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0" y="0"/>
            <a:ext cx="4602175" cy="6858000"/>
          </a:xfrm>
          <a:prstGeom prst="rect">
            <a:avLst/>
          </a:prstGeom>
          <a:solidFill>
            <a:srgbClr val="132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1097280"/>
            <a:ext cx="3504895" cy="4937760"/>
          </a:xfrm>
          <a:prstGeom prst="rect">
            <a:avLst/>
          </a:prstGeom>
          <a:solidFill>
            <a:srgbClr val="18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4114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822960"/>
            <a:ext cx="3108960" cy="329184"/>
          </a:xfrm>
          <a:prstGeom prst="roundRect">
            <a:avLst>
              <a:gd name="adj" fmla="val 4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686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DATA ANALYTICS &amp; VISUALIZATION (DAV)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Electricity Consumption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B4D8"/>
                </a:solidFill>
                <a:latin typeface="Calibri"/>
              </a:rPr>
              <a:t>&amp; Monitoring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TG-SPDCL Domestic Consumer Dataset (July 2026) | 8-Pillar Syllabus Synthesis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6309360" cy="2377440"/>
          </a:xfrm>
          <a:prstGeom prst="roundRect">
            <a:avLst>
              <a:gd name="adj" fmla="val 4000"/>
            </a:avLst>
          </a:prstGeom>
          <a:solidFill>
            <a:srgbClr val="13244E"/>
          </a:solidFill>
          <a:ln w="9525">
            <a:solidFill>
              <a:srgbClr val="007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749039"/>
            <a:ext cx="63093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9E0B"/>
                </a:solidFill>
                <a:latin typeface="Calibri"/>
              </a:rPr>
              <a:t>PROJECT RESEARCH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24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D. Chander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24281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D8"/>
                </a:solidFill>
                <a:latin typeface="Calibri"/>
              </a:rPr>
              <a:t>Roll: 2503A52214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24281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Data Cleaning, Wrangling &amp; Power Query ETL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914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K. Arjun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80974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D8"/>
                </a:solidFill>
                <a:latin typeface="Calibri"/>
              </a:rPr>
              <a:t>Roll: 2503A52235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80974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Seaborn Visualizations, Correlations &amp; Heatmaps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583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P. Sachin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37667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D8"/>
                </a:solidFill>
                <a:latin typeface="Calibri"/>
              </a:rPr>
              <a:t>Roll: 2503A52240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37667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Statistical Modeling, Pareto Analysis &amp; Final Decision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005840"/>
            <a:ext cx="3657600" cy="111556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1005840"/>
            <a:ext cx="73152" cy="11155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11556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15,947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151790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  <a:latin typeface="Calibri"/>
              </a:rPr>
              <a:t>SECTOR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75564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20 Circles | 49 Divisions | 476 Sections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2286000"/>
            <a:ext cx="3657600" cy="111556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2286000"/>
            <a:ext cx="73152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39572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8.87M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TOTAL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03580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8.22M Active Billed Connections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566160"/>
            <a:ext cx="3657600" cy="111556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3566160"/>
            <a:ext cx="73152" cy="11155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36758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1,245.5 GWh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07822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ENERGY CONSUMED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31596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1,245,523,023 kWh Monthly Demand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4846320"/>
            <a:ext cx="3657600" cy="1115568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4846320"/>
            <a:ext cx="73152" cy="111556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495604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92.68%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358384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Calibri"/>
              </a:rPr>
              <a:t>BILLING EFFICIENCY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59612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648,960 Unbilled Services Identified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574536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TG-SPDCL Domestic Electricity Consumption &amp; Monitoring  |  Data Analytics &amp; Visualization (DAV)  |  July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57453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"/>
            <a:ext cx="2926080" cy="237744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PILLAR 1: PROJECT EXPLANATION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Domain Context, Problem Statement &amp; Network Hierarchy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04672"/>
            <a:ext cx="8961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Analyzing electricity distribution dynamics across Greater Hyderabad and rural Telangana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8404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836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  <a:latin typeface="Calibri"/>
              </a:rPr>
              <a:t>Compact Syllabus Edition (11 Slides)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214884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2148840" cy="320040"/>
          </a:xfrm>
          <a:prstGeom prst="roundRect">
            <a:avLst>
              <a:gd name="adj" fmla="val 4000"/>
            </a:avLst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71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20 Circles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691640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A193B"/>
                </a:solidFill>
                <a:latin typeface="Calibri"/>
              </a:rPr>
              <a:t>Apex Geographic Zones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92024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Medchal, Cybercity, Habsiguda...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61488" y="1325880"/>
            <a:ext cx="214884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61488" y="1325880"/>
            <a:ext cx="2148840" cy="320040"/>
          </a:xfrm>
          <a:prstGeom prst="roundRect">
            <a:avLst>
              <a:gd name="adj" fmla="val 4000"/>
            </a:avLst>
          </a:prstGeom>
          <a:solidFill>
            <a:srgbClr val="16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2928" y="1371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49 Divisions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2928" y="1691640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62B5A"/>
                </a:solidFill>
                <a:latin typeface="Calibri"/>
              </a:rPr>
              <a:t>Operational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2928" y="192024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Kukatpally, Mehdipatnam...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65776" y="1325880"/>
            <a:ext cx="214884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65776" y="1325880"/>
            <a:ext cx="2148840" cy="320040"/>
          </a:xfrm>
          <a:prstGeom prst="roundRect">
            <a:avLst>
              <a:gd name="adj" fmla="val 4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57216" y="1371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131 Subdivisions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1691640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7791"/>
                </a:solidFill>
                <a:latin typeface="Calibri"/>
              </a:rPr>
              <a:t>Field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192024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Miyapur, Qutbullapur, Uppal...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70064" y="1325880"/>
            <a:ext cx="214884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70064" y="1325880"/>
            <a:ext cx="2148840" cy="320040"/>
          </a:xfrm>
          <a:prstGeom prst="roundRect">
            <a:avLst>
              <a:gd name="adj" fmla="val 4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61504" y="1371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476 Sections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4" y="1691640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B4D8"/>
                </a:solidFill>
                <a:latin typeface="Calibri"/>
              </a:rPr>
              <a:t>Local Billing Stations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192024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Line stations &amp; meter reading offices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74352" y="1325880"/>
            <a:ext cx="214884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74352" y="1325880"/>
            <a:ext cx="2148840" cy="320040"/>
          </a:xfrm>
          <a:prstGeom prst="roundRect">
            <a:avLst>
              <a:gd name="adj" fmla="val 4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65792" y="1371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15,947 Areas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65792" y="1691640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47857"/>
                </a:solidFill>
                <a:latin typeface="Calibri"/>
              </a:rPr>
              <a:t>Neighborhood Sectors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5792" y="192024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Granular colony &amp; feeder records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2971800"/>
            <a:ext cx="361188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7200" y="2971800"/>
            <a:ext cx="3611880" cy="347472"/>
          </a:xfrm>
          <a:prstGeom prst="roundRect">
            <a:avLst>
              <a:gd name="adj" fmla="val 4000"/>
            </a:avLst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3035808"/>
            <a:ext cx="3282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1. Utility Context (TG-SPDCL)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3355848"/>
            <a:ext cx="3282696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State Distribution Entity: </a:t>
            </a:r>
            <a:r>
              <a:rPr b="0" sz="950">
                <a:solidFill>
                  <a:srgbClr val="64748B"/>
                </a:solidFill>
                <a:latin typeface="Calibri"/>
              </a:rPr>
              <a:t>Serves 15 southern districts of Telangana including the state capital.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Domestic Focus (Cat 1): </a:t>
            </a:r>
            <a:r>
              <a:rPr b="0" sz="950">
                <a:solidFill>
                  <a:srgbClr val="64748B"/>
                </a:solidFill>
                <a:latin typeface="Calibri"/>
              </a:rPr>
              <a:t>Exclusively covers households, apartments, and domestic residential connections.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Demand Significance: </a:t>
            </a:r>
            <a:r>
              <a:rPr b="0" sz="950">
                <a:solidFill>
                  <a:srgbClr val="64748B"/>
                </a:solidFill>
                <a:latin typeface="Calibri"/>
              </a:rPr>
              <a:t>Domestic consumption constitutes over 40% of grid peak load during summer/monsoon.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2971800"/>
            <a:ext cx="361188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297680" y="2971800"/>
            <a:ext cx="3611880" cy="347472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2272" y="3035808"/>
            <a:ext cx="3282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2. Core Operational Challenges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62272" y="3355848"/>
            <a:ext cx="3282696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High Unbilled Deficit: </a:t>
            </a:r>
            <a:r>
              <a:rPr b="0" sz="950">
                <a:solidFill>
                  <a:srgbClr val="64748B"/>
                </a:solidFill>
                <a:latin typeface="Calibri"/>
              </a:rPr>
              <a:t>648,960 services unbilled in July 2026 (~7.32% of total services).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Severe Load Concentration: </a:t>
            </a:r>
            <a:r>
              <a:rPr b="0" sz="950">
                <a:solidFill>
                  <a:srgbClr val="64748B"/>
                </a:solidFill>
                <a:latin typeface="Calibri"/>
              </a:rPr>
              <a:t>Heavy air conditioning &amp; villa loads strain local transformers in western corridors.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Data Hygiene Gaps: </a:t>
            </a:r>
            <a:r>
              <a:rPr b="0" sz="950">
                <a:solidFill>
                  <a:srgbClr val="64748B"/>
                </a:solidFill>
                <a:latin typeface="Calibri"/>
              </a:rPr>
              <a:t>Missing records, negative unit reversals, and repetitive naming across sections.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0" y="2971800"/>
            <a:ext cx="3611880" cy="3383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138160" y="2971800"/>
            <a:ext cx="3611880" cy="347472"/>
          </a:xfrm>
          <a:prstGeom prst="roundRect">
            <a:avLst>
              <a:gd name="adj" fmla="val 4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02752" y="3035808"/>
            <a:ext cx="3282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3. Core Research Objectives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752" y="3355848"/>
            <a:ext cx="3282696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Consumption Profiling: </a:t>
            </a:r>
            <a:r>
              <a:rPr b="0" sz="950">
                <a:solidFill>
                  <a:srgbClr val="64748B"/>
                </a:solidFill>
                <a:latin typeface="Calibri"/>
              </a:rPr>
              <a:t>Establish consumption intensity per household across metro vs rural zones.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Correlation Modeling: </a:t>
            </a:r>
            <a:r>
              <a:rPr b="0" sz="950">
                <a:solidFill>
                  <a:srgbClr val="64748B"/>
                </a:solidFill>
                <a:latin typeface="Calibri"/>
              </a:rPr>
              <a:t>Quantify the mathematical coupling between connected load (kW) and units (kWh).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Data-Backed Interventions: </a:t>
            </a:r>
            <a:r>
              <a:rPr b="0" sz="950">
                <a:solidFill>
                  <a:srgbClr val="64748B"/>
                </a:solidFill>
                <a:latin typeface="Calibri"/>
              </a:rPr>
              <a:t>Deliver actionable transformer upgrade and revenue recovery roadmaps.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74536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TG-SPDCL Domestic Electricity Consumption &amp; Monitoring  |  Data Analytics &amp; Visualization (DAV)  |  July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657453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"/>
            <a:ext cx="2926080" cy="237744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PILLAR 2: DATA EXPLORATION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Dataset Architecture, Data Dictionary &amp; Data Quality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04672"/>
            <a:ext cx="8961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Comprehensive structural audit of 15,947 records × 11 active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8404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836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  <a:latin typeface="Calibri"/>
              </a:rPr>
              <a:t>Compact Syllabus Edition (11 Slides)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25880"/>
          <a:ext cx="63093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097280"/>
                <a:gridCol w="292608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Feature Name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Description / Analytical Purpose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193B"/>
                          </a:solidFill>
                          <a:latin typeface="Calibri"/>
                        </a:rPr>
                        <a:t>CIRCLE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Categorical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Highest administrative circle (20 unique)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193B"/>
                          </a:solidFill>
                          <a:latin typeface="Calibri"/>
                        </a:rPr>
                        <a:t>DIVISION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Categorical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Operational district subdivision (49 unique)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193B"/>
                          </a:solidFill>
                          <a:latin typeface="Calibri"/>
                        </a:rPr>
                        <a:t>SUBDIVISION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Categorical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Field maintenance zone (131 unique)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193B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Categorical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Local billing station (476 unique)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193B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Categorical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Neighborhood sector name (15,947 records)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193B"/>
                          </a:solidFill>
                          <a:latin typeface="Calibri"/>
                        </a:rPr>
                        <a:t>CATDESC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Categorical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Tariff category (DOMESTIC)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193B"/>
                          </a:solidFill>
                          <a:latin typeface="Calibri"/>
                        </a:rPr>
                        <a:t>CATCODE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Numerical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Tariff code identifier (Code =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193B"/>
                          </a:solidFill>
                          <a:latin typeface="Calibri"/>
                        </a:rPr>
                        <a:t>TOTSERVICES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Integer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Numerical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Total registered domestic connections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193B"/>
                          </a:solidFill>
                          <a:latin typeface="Calibri"/>
                        </a:rPr>
                        <a:t>BILLDSERVICES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Float/Int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Numerical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Active connections billed in July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193B"/>
                          </a:solidFill>
                          <a:latin typeface="Calibri"/>
                        </a:rPr>
                        <a:t>UNITS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Float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Numerical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Metered electricity consumed in kWh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193B"/>
                          </a:solidFill>
                          <a:latin typeface="Calibri"/>
                        </a:rPr>
                        <a:t>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Float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Numerical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Sanctioned connected load in Kilowatts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949440" y="1325880"/>
            <a:ext cx="475488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49440" y="1325880"/>
            <a:ext cx="4754880" cy="347472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4032" y="1389888"/>
            <a:ext cx="4425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Missing Values &amp; Root-Cause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1709928"/>
            <a:ext cx="4425696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247 Missing BILLDSERVICES: </a:t>
            </a:r>
            <a:r>
              <a:rPr b="0" sz="950">
                <a:solidFill>
                  <a:srgbClr val="64748B"/>
                </a:solidFill>
                <a:latin typeface="Calibri"/>
              </a:rPr>
              <a:t>Crucial Discovery: 100% of these 247 rows have exactly 0 metered units. They represent uncommissioned or inactive feeders.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47 Missing AREA Names: </a:t>
            </a:r>
            <a:r>
              <a:rPr b="0" sz="950">
                <a:solidFill>
                  <a:srgbClr val="64748B"/>
                </a:solidFill>
                <a:latin typeface="Calibri"/>
              </a:rPr>
              <a:t>Handled via string imputation as 'UNKNOWN AREA' without loss of geographic hierarchy.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Zero Removal Strategy: </a:t>
            </a:r>
            <a:r>
              <a:rPr b="0" sz="950">
                <a:solidFill>
                  <a:srgbClr val="64748B"/>
                </a:solidFill>
                <a:latin typeface="Calibri"/>
              </a:rPr>
              <a:t>Retained rather than dropped to prevent artificially biasing average consumption upward.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3931920"/>
            <a:ext cx="475488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49440" y="3931920"/>
            <a:ext cx="4754880" cy="347472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3995928"/>
            <a:ext cx="44256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Numerical Outliers &amp; Duplicate Anomalies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4315968"/>
            <a:ext cx="4425696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15 Negative UNIT Records: </a:t>
            </a:r>
            <a:r>
              <a:rPr b="0" sz="950">
                <a:solidFill>
                  <a:srgbClr val="64748B"/>
                </a:solidFill>
                <a:latin typeface="Calibri"/>
              </a:rPr>
              <a:t>Min value -1,703.0 kWh. Represent utility accounting adjustments and meter recalibrations; clamped to 0.0 in analytics.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344 Zero-Unit Sectors: </a:t>
            </a:r>
            <a:r>
              <a:rPr b="0" sz="950">
                <a:solidFill>
                  <a:srgbClr val="64748B"/>
                </a:solidFill>
                <a:latin typeface="Calibri"/>
              </a:rPr>
              <a:t>Valid vacant homes, disconnected lines, or rural tribal thandas in Nalgonda/Suryapet.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1,999 Repeated Area Names: </a:t>
            </a:r>
            <a:r>
              <a:rPr b="0" sz="950">
                <a:solidFill>
                  <a:srgbClr val="64748B"/>
                </a:solidFill>
                <a:latin typeface="Calibri"/>
              </a:rPr>
              <a:t>'MAIN ROAD' &amp; 'GANDHI NAGAR' repeat across sections; composite keys (`section_area`) enforce unique identity.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74536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TG-SPDCL Domestic Electricity Consumption &amp; Monitoring  |  Data Analytics &amp; Visualization (DAV)  |  July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7453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"/>
            <a:ext cx="2926080" cy="237744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PILLAR 3: BASIC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Statistical Dispersion, Skewness &amp; The 15% / 50.5% Pareto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04672"/>
            <a:ext cx="8961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Parametric vs non-parametric summary, urban-rural disparity, and heavy-consumer concentration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8404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836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  <a:latin typeface="Calibri"/>
              </a:rPr>
              <a:t>Compact Syllabus Edition (11 Slides)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2588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468880"/>
                <a:gridCol w="2286000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Metric / Variable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Registered Services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Billed Services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Consumption (kWh)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Connected Load (kW)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193B"/>
                          </a:solidFill>
                          <a:latin typeface="Calibri"/>
                        </a:rPr>
                        <a:t>Mean (Average)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556.1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523.0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78,103.6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864.04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193B"/>
                          </a:solidFill>
                          <a:latin typeface="Calibri"/>
                        </a:rPr>
                        <a:t>Std Deviation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626.2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605.8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112,930.4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1,529.57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193B"/>
                          </a:solidFill>
                          <a:latin typeface="Calibri"/>
                        </a:rPr>
                        <a:t>Minimum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-1,703.0 (Anomalous)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0.12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193B"/>
                          </a:solidFill>
                          <a:latin typeface="Calibri"/>
                        </a:rPr>
                        <a:t>25th Percentile (Q1)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152.0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138.0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11,312.0 kWh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86.00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193B"/>
                          </a:solidFill>
                          <a:latin typeface="Calibri"/>
                        </a:rPr>
                        <a:t>50th Percentile (Median)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382.0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345.0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36,826.0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316.00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193B"/>
                          </a:solidFill>
                          <a:latin typeface="Calibri"/>
                        </a:rPr>
                        <a:t>75th Percentile (Q3)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735.5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690.0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102,405.5 kWh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1,058.15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193B"/>
                          </a:solidFill>
                          <a:latin typeface="Calibri"/>
                        </a:rPr>
                        <a:t>Maximum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12,182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11,886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2,319,144.0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33,617.69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57200" y="3977639"/>
            <a:ext cx="548640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977639"/>
            <a:ext cx="5486400" cy="347472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4041647"/>
            <a:ext cx="5157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The Pareto Principle: Area-Size Segmentation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361687"/>
            <a:ext cx="5157216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Very Large Areas (&gt;1,000 services): </a:t>
            </a:r>
            <a:r>
              <a:rPr b="0" sz="950">
                <a:solidFill>
                  <a:srgbClr val="64748B"/>
                </a:solidFill>
                <a:latin typeface="Calibri"/>
              </a:rPr>
              <a:t>2,452 areas (15.4% of total) account for 50.5% (629.0 GWh) of all electricity consumed.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Large Areas (501–1,000 services): </a:t>
            </a:r>
            <a:r>
              <a:rPr b="0" sz="950">
                <a:solidFill>
                  <a:srgbClr val="64748B"/>
                </a:solidFill>
                <a:latin typeface="Calibri"/>
              </a:rPr>
              <a:t>3,810 areas (23.9% count) account for 24.2% (301.4 GWh) of total demand.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Medium Areas (201–500 services): </a:t>
            </a:r>
            <a:r>
              <a:rPr b="0" sz="950">
                <a:solidFill>
                  <a:srgbClr val="64748B"/>
                </a:solidFill>
                <a:latin typeface="Calibri"/>
              </a:rPr>
              <a:t>5,120 areas (32.1% count) account for 18.1% (225.4 GWh).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Small Areas (1–200 services): </a:t>
            </a:r>
            <a:r>
              <a:rPr b="0" sz="950">
                <a:solidFill>
                  <a:srgbClr val="64748B"/>
                </a:solidFill>
                <a:latin typeface="Calibri"/>
              </a:rPr>
              <a:t>4,565 areas (28.6% count) account for only 7.2% (89.7 GWh).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48640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3977639"/>
            <a:ext cx="5486400" cy="347472"/>
          </a:xfrm>
          <a:prstGeom prst="roundRect">
            <a:avLst>
              <a:gd name="adj" fmla="val 4000"/>
            </a:avLst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4041647"/>
            <a:ext cx="5157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Geographic Rankings &amp; The 3× Lifestyle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361687"/>
            <a:ext cx="5157216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Top 5 Circles Consume 50.6%: </a:t>
            </a:r>
            <a:r>
              <a:rPr b="0" sz="950">
                <a:solidFill>
                  <a:srgbClr val="64748B"/>
                </a:solidFill>
                <a:latin typeface="Calibri"/>
              </a:rPr>
              <a:t>Medchal (141.7M), Habsiguda (138.1M), Cybercity (125.4M), Hyd Central (112.5M), Saroornagar (112.3M).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Bottom 5 Circles &lt; 1.5% each: </a:t>
            </a:r>
            <a:r>
              <a:rPr b="0" sz="950">
                <a:solidFill>
                  <a:srgbClr val="64748B"/>
                </a:solidFill>
                <a:latin typeface="Calibri"/>
              </a:rPr>
              <a:t>Gadwal (10.0M), Wanaparthy (10.1M), Nagarkurnool (13.1M), Medak (15.9M), Vikarabad (17.9M).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Household Intensity Divide: </a:t>
            </a:r>
            <a:r>
              <a:rPr b="0" sz="950">
                <a:solidFill>
                  <a:srgbClr val="64748B"/>
                </a:solidFill>
                <a:latin typeface="Calibri"/>
              </a:rPr>
              <a:t>Banjara Hills (240 kWh) &amp; Cybercity (219 kWh) vs Rural Districts (75–83 kWh) — a 3× consumption lifestyle gap.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Extreme Right Skewness: </a:t>
            </a:r>
            <a:r>
              <a:rPr b="0" sz="950">
                <a:solidFill>
                  <a:srgbClr val="64748B"/>
                </a:solidFill>
                <a:latin typeface="Calibri"/>
              </a:rPr>
              <a:t>Max sector Hydernagar (2.32M kWh) is 63× greater than the state median (36.8k kWh).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74536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TG-SPDCL Domestic Electricity Consumption &amp; Monitoring  |  Data Analytics &amp; Visualization (DAV)  |  July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7453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"/>
            <a:ext cx="2926080" cy="237744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PILLAR 4: DATA WRANGLING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Automated ETL Pipeline &amp; Synthesized Feature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04672"/>
            <a:ext cx="8961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Systematic transformations in Power Query and Pandas to establish clean analytical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8404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836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  <a:latin typeface="Calibri"/>
              </a:rPr>
              <a:t>Compact Syllabus Edition (11 Slides)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17830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1783080" cy="292608"/>
          </a:xfrm>
          <a:prstGeom prst="roundRect">
            <a:avLst>
              <a:gd name="adj" fmla="val 4000"/>
            </a:avLst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371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1.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16916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Calibri"/>
              </a:rPr>
              <a:t>Folder connectors for CSV/Excel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59152" y="1325880"/>
            <a:ext cx="17830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59152" y="1325880"/>
            <a:ext cx="1783080" cy="292608"/>
          </a:xfrm>
          <a:prstGeom prst="roundRect">
            <a:avLst>
              <a:gd name="adj" fmla="val 4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32304" y="1371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2. Null Treatment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2304" y="16916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Calibri"/>
              </a:rPr>
              <a:t>Impute Area &amp; 247 missing Billed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1104" y="1325880"/>
            <a:ext cx="17830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61104" y="1325880"/>
            <a:ext cx="1783080" cy="292608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4256" y="1371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3. Anomaly Clamping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6" y="16916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Calibri"/>
              </a:rPr>
              <a:t>Clamp 15 negatives to 0.0 kWh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1325880"/>
            <a:ext cx="17830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63056" y="1325880"/>
            <a:ext cx="1783080" cy="292608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1371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4. Text Cleansing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16916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Calibri"/>
              </a:rPr>
              <a:t>Trim whitespace &amp; composite keys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1325880"/>
            <a:ext cx="17830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65008" y="1325880"/>
            <a:ext cx="1783080" cy="292608"/>
          </a:xfrm>
          <a:prstGeom prst="roundRect">
            <a:avLst>
              <a:gd name="adj" fmla="val 4000"/>
            </a:avLst>
          </a:prstGeom>
          <a:solidFill>
            <a:srgbClr val="16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371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5. Type Casting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6916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Calibri"/>
              </a:rPr>
              <a:t>Uint32 counts &amp; Float64 units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1325880"/>
            <a:ext cx="17830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66960" y="1325880"/>
            <a:ext cx="1783080" cy="292608"/>
          </a:xfrm>
          <a:prstGeom prst="roundRect">
            <a:avLst>
              <a:gd name="adj" fmla="val 4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0112" y="137160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6.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40112" y="1691640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F172A"/>
                </a:solidFill>
                <a:latin typeface="Calibri"/>
              </a:rPr>
              <a:t>Enforce (Billed &lt;= Total) logic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697480"/>
            <a:ext cx="548640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57200" y="2697480"/>
            <a:ext cx="5486400" cy="32004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2752344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Billing Efficiency Rate (%)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" y="3081528"/>
            <a:ext cx="5120640" cy="3200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13639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93B"/>
                </a:solidFill>
                <a:latin typeface="Courier New"/>
              </a:rPr>
              <a:t>billing_rate_pct = (BILLDSERVICES / TOTSERVICES) * 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34747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Measures revenue capture efficiency. Identifies non-functioning meters, unmetered services, or delayed reading cycles. State benchmark is 95%.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2697480"/>
            <a:ext cx="548640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217920" y="2697480"/>
            <a:ext cx="5486400" cy="320040"/>
          </a:xfrm>
          <a:prstGeom prst="roundRect">
            <a:avLst>
              <a:gd name="adj" fmla="val 4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2512" y="2752344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Consumption Intensity per Service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82512" y="3081528"/>
            <a:ext cx="5120640" cy="3200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313639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93B"/>
                </a:solidFill>
                <a:latin typeface="Courier New"/>
              </a:rPr>
              <a:t>units_per_billed_service = UNITS / BILLDSERVICES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34747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Normalizes consumption volume against active connections. Removes size bias, exposing true living-standard intensity across areas.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526280"/>
            <a:ext cx="548640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57200" y="4526280"/>
            <a:ext cx="5486400" cy="320040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4581144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Load Utilization Ratio (kWh / kW)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" y="4910328"/>
            <a:ext cx="5120640" cy="3200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496519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93B"/>
                </a:solidFill>
                <a:latin typeface="Courier New"/>
              </a:rPr>
              <a:t>units_per_kw_load = UNITS / LOAD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" y="53035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Measures how intensively connected power capacity is utilized. Sectors &gt; 250 kWh/kW flag potential transformer strain or commercial misuse.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4526280"/>
            <a:ext cx="548640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217920" y="4526280"/>
            <a:ext cx="5486400" cy="320040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82512" y="4581144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Unbilled Services Gap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82512" y="4910328"/>
            <a:ext cx="5120640" cy="32004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46520" y="4965192"/>
            <a:ext cx="4937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93B"/>
                </a:solidFill>
                <a:latin typeface="Courier New"/>
              </a:rPr>
              <a:t>unbilled_services = TOTSERVICES - BILLDSERVICES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82512" y="53035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Direct head-count of unregistered or unbilled domestic connections (total 648,960). Powers prioritized field recovery squads.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574536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TG-SPDCL Domestic Electricity Consumption &amp; Monitoring  |  Data Analytics &amp; Visualization (DAV)  |  July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0" y="657453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"/>
            <a:ext cx="2926080" cy="237744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PILLAR 5: VARIABLE CONNECTIONS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Pearson Correlation Analysis &amp; Regression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04672"/>
            <a:ext cx="8961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Investigating mathematical dependencies between connected load, connections, and energy 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8404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836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  <a:latin typeface="Calibri"/>
              </a:rPr>
              <a:t>Compact Syllabus Edition (11 Slides)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566928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ad_vs_un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99032"/>
            <a:ext cx="5522976" cy="47365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352" y="6099048"/>
            <a:ext cx="55229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62B5A"/>
                </a:solidFill>
                <a:latin typeface="Calibri"/>
              </a:rPr>
              <a:t>Figure: Connected Load (kW) vs Consumed Energy (MWh) with Seaborn Regplot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09360" y="1325880"/>
          <a:ext cx="53035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1005840"/>
                <a:gridCol w="192024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Variable Pair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50">
                          <a:solidFill>
                            <a:srgbClr val="FFFFFF"/>
                          </a:solidFill>
                          <a:latin typeface="Calibri"/>
                        </a:rPr>
                        <a:t>Operational Interpretation</a:t>
                      </a:r>
                    </a:p>
                  </a:txBody>
                  <a:tcPr>
                    <a:solidFill>
                      <a:srgbClr val="0A193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193B"/>
                          </a:solidFill>
                          <a:latin typeface="Calibri"/>
                        </a:rPr>
                        <a:t>LOAD ↔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+0.946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Very 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Connected load capacity directly governs consumption.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193B"/>
                          </a:solidFill>
                          <a:latin typeface="Calibri"/>
                        </a:rPr>
                        <a:t>SERVICES ↔ BILLED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+0.995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Near Perfect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Registered connections dictate billed services.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193B"/>
                          </a:solidFill>
                          <a:latin typeface="Calibri"/>
                        </a:rPr>
                        <a:t>BILLED ↔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+0.884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Larger customer base reliably scales energy usage.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193B"/>
                          </a:solidFill>
                          <a:latin typeface="Calibri"/>
                        </a:rPr>
                        <a:t>SERVICES ↔ LOAD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+0.763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Moderate-High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F172A"/>
                          </a:solidFill>
                          <a:latin typeface="Calibri"/>
                        </a:rPr>
                        <a:t>Sanctioned capacity scales with household counts.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6309360" y="3703320"/>
            <a:ext cx="539496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3703320"/>
            <a:ext cx="5394960" cy="347472"/>
          </a:xfrm>
          <a:prstGeom prst="roundRect">
            <a:avLst>
              <a:gd name="adj" fmla="val 4000"/>
            </a:avLst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67328"/>
            <a:ext cx="5065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Regression Slope &amp; Association vs Causation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087368"/>
            <a:ext cx="5065776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Linear Regression Trend (Red Line): </a:t>
            </a:r>
            <a:r>
              <a:rPr b="0" sz="950">
                <a:solidFill>
                  <a:srgbClr val="64748B"/>
                </a:solidFill>
                <a:latin typeface="Calibri"/>
              </a:rPr>
              <a:t>Empirically validates strong linear scaling. For every 1,000 kW of connected capacity, monthly energy increases by ~90 MWh.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Dense Baseload Band: </a:t>
            </a:r>
            <a:r>
              <a:rPr b="0" sz="950">
                <a:solidFill>
                  <a:srgbClr val="64748B"/>
                </a:solidFill>
                <a:latin typeface="Calibri"/>
              </a:rPr>
              <a:t>The primary cluster between 0–2,000 kW displays tightly bounded, highly predictable residential behavior.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High Vertical Scatter: </a:t>
            </a:r>
            <a:r>
              <a:rPr b="0" sz="950">
                <a:solidFill>
                  <a:srgbClr val="64748B"/>
                </a:solidFill>
                <a:latin typeface="Calibri"/>
              </a:rPr>
              <a:t>Sectors located high above the line reflect intense air conditioning or commercial activity billed on domestic tariffs.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Correlation != Causation: </a:t>
            </a:r>
            <a:r>
              <a:rPr b="0" sz="950">
                <a:solidFill>
                  <a:srgbClr val="64748B"/>
                </a:solidFill>
                <a:latin typeface="Calibri"/>
              </a:rPr>
              <a:t>Load provides the physical pipeline, but summer temperature and affluence drive actual kilowatt-hour draw.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74536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TG-SPDCL Domestic Electricity Consumption &amp; Monitoring  |  Data Analytics &amp; Visualization (DAV)  |  July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7453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"/>
            <a:ext cx="2926080" cy="237744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PILLAR 6: EXCEL VISUALIZATIONS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Microsoft Excel Analytics: Pivot Tables &amp; Visual Dashboards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04672"/>
            <a:ext cx="8961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Rapid ad-hoc exploratory analytics, slicing, clustered columns, and tool capability boundaries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8404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836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  <a:latin typeface="Calibri"/>
              </a:rPr>
              <a:t>Compact Syllabus Edition (11 Slides)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566928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xcel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99032"/>
            <a:ext cx="5522976" cy="47365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352" y="6099048"/>
            <a:ext cx="55229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62B5A"/>
                </a:solidFill>
                <a:latin typeface="Calibri"/>
              </a:rPr>
              <a:t>Figure: Microsoft Excel Clustered Column &amp; 2D Donut Visualizations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39496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325880"/>
            <a:ext cx="5394960" cy="347472"/>
          </a:xfrm>
          <a:prstGeom prst="roundRect">
            <a:avLst>
              <a:gd name="adj" fmla="val 4000"/>
            </a:avLst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389888"/>
            <a:ext cx="5065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Excel Pivot Table &amp; Slicer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709928"/>
            <a:ext cx="5065776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Hierarchical Grouping: </a:t>
            </a:r>
            <a:r>
              <a:rPr b="0" sz="950">
                <a:solidFill>
                  <a:srgbClr val="64748B"/>
                </a:solidFill>
                <a:latin typeface="Calibri"/>
              </a:rPr>
              <a:t>Rows: CIRCLE &gt; DIVISION &gt; SECTION. Values: Sum of Units, Sum of Load, Average Units per Service.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Interactive Slicers: </a:t>
            </a:r>
            <a:r>
              <a:rPr b="0" sz="950">
                <a:solidFill>
                  <a:srgbClr val="64748B"/>
                </a:solidFill>
                <a:latin typeface="Calibri"/>
              </a:rPr>
              <a:t>Added slicers for CIRCLE and DIVISION for instant zero-code field station filtering.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Calculated Fields: </a:t>
            </a:r>
            <a:r>
              <a:rPr b="0" sz="950">
                <a:solidFill>
                  <a:srgbClr val="64748B"/>
                </a:solidFill>
                <a:latin typeface="Calibri"/>
              </a:rPr>
              <a:t>Created 'Billing Efficiency %' field within the Pivot Table to benchmark sections against 95%.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Conditional Formatting: </a:t>
            </a:r>
            <a:r>
              <a:rPr b="0" sz="950">
                <a:solidFill>
                  <a:srgbClr val="64748B"/>
                </a:solidFill>
                <a:latin typeface="Calibri"/>
              </a:rPr>
              <a:t>Applied soft red data bars and cell highlights to flag low-billing sections in seconds.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840480"/>
            <a:ext cx="539496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3840480"/>
            <a:ext cx="5394960" cy="347472"/>
          </a:xfrm>
          <a:prstGeom prst="roundRect">
            <a:avLst>
              <a:gd name="adj" fmla="val 4000"/>
            </a:avLst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904488"/>
            <a:ext cx="5065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Excel Strengths vs Tool Boundaries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224528"/>
            <a:ext cx="5065776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Excel Advantages: </a:t>
            </a:r>
            <a:r>
              <a:rPr b="0" sz="950">
                <a:solidFill>
                  <a:srgbClr val="64748B"/>
                </a:solidFill>
                <a:latin typeface="Calibri"/>
              </a:rPr>
              <a:t>Accessible to all utility managers; standard for tariff regulatory filings and rapid ad-hoc slicing.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Scale Constraints: </a:t>
            </a:r>
            <a:r>
              <a:rPr b="0" sz="950">
                <a:solidFill>
                  <a:srgbClr val="64748B"/>
                </a:solidFill>
                <a:latin typeface="Calibri"/>
              </a:rPr>
              <a:t>Performance degrades on multi-million row smart meter telemetry datasets.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Lack of Advanced Statistics: </a:t>
            </a:r>
            <a:r>
              <a:rPr b="0" sz="950">
                <a:solidFill>
                  <a:srgbClr val="64748B"/>
                </a:solidFill>
                <a:latin typeface="Calibri"/>
              </a:rPr>
              <a:t>Cannot natively generate KDE distribution curves, regression confidence intervals, or automated heatmaps.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Reproducibility Risk: </a:t>
            </a:r>
            <a:r>
              <a:rPr b="0" sz="950">
                <a:solidFill>
                  <a:srgbClr val="64748B"/>
                </a:solidFill>
                <a:latin typeface="Calibri"/>
              </a:rPr>
              <a:t>Vulnerable to accidental cell formula overwrites; Python automation guarantees 100% reproducible pipelines.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74536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TG-SPDCL Domestic Electricity Consumption &amp; Monitoring  |  Data Analytics &amp; Visualization (DAV)  |  July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7453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"/>
            <a:ext cx="2926080" cy="237744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PILLAR 7: PYTHON VISUALIZATIONS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Dual-Axis Infrastructure Analysis &amp; Top 20 Demand Hotspots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04672"/>
            <a:ext cx="8961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High-resolution Matplotlib &amp; Seaborn plots mapping circle capacity and neighborhood epicenters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8404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836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  <a:latin typeface="Calibri"/>
              </a:rPr>
              <a:t>Compact Syllabus Edition (11 Slides)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548640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ircle_consum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99032"/>
            <a:ext cx="5340096" cy="36393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352" y="5001768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62B5A"/>
                </a:solidFill>
                <a:latin typeface="Calibri"/>
              </a:rPr>
              <a:t>Figure 1: Energy Consumed (GWh) &amp; Sanctioned Load (MW) by Circle (Matplotlib &amp; Seaborn)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48640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op20_are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399032"/>
            <a:ext cx="5340096" cy="36393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91072" y="5001768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62B5A"/>
                </a:solidFill>
                <a:latin typeface="Calibri"/>
              </a:rPr>
              <a:t>Figure 2: Top 20 High-Demand Areas in TG-SPDCL (Seaborn Barplot)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94960"/>
            <a:ext cx="11274552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5394960"/>
            <a:ext cx="11274552" cy="347472"/>
          </a:xfrm>
          <a:prstGeom prst="roundRect">
            <a:avLst>
              <a:gd name="adj" fmla="val 4000"/>
            </a:avLst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5458968"/>
            <a:ext cx="10945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Key Infrastructure Takeaways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779008"/>
            <a:ext cx="1094536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Proportional Grid Symmetry: </a:t>
            </a:r>
            <a:r>
              <a:rPr b="0" sz="950">
                <a:solidFill>
                  <a:srgbClr val="64748B"/>
                </a:solidFill>
                <a:latin typeface="Calibri"/>
              </a:rPr>
              <a:t>Consumption (cyan bars, GWh) and Connected Load (purple bars, MW) match with near-perfect alignment across all 20 circles, validating infrastructure sizing.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Top Demand Epicenters: </a:t>
            </a:r>
            <a:r>
              <a:rPr b="0" sz="950">
                <a:solidFill>
                  <a:srgbClr val="64748B"/>
                </a:solidFill>
                <a:latin typeface="Calibri"/>
              </a:rPr>
              <a:t>Hydernagar (2.32M kWh), Moosapet (1.81M), and Vinayaknagar (1.47M) lead state-wide consumption, requiring targeted transformer upgrades.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74536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TG-SPDCL Domestic Electricity Consumption &amp; Monitoring  |  Data Analytics &amp; Visualization (DAV)  |  July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7453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"/>
            <a:ext cx="2926080" cy="237744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PILLAR 7: PYTHON VISUALIZATIONS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Section Billing Efficiency Benchmark &amp; Distribution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04672"/>
            <a:ext cx="8961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Evaluating circle compliance against the 95% target, household KDE spread, and feature correlations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8404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836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  <a:latin typeface="Calibri"/>
              </a:rPr>
              <a:t>Compact Syllabus Edition (11 Slides)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548640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illing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99032"/>
            <a:ext cx="5340096" cy="36393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352" y="5001768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62B5A"/>
                </a:solidFill>
                <a:latin typeface="Calibri"/>
              </a:rPr>
              <a:t>Figure 3: Circle Billing Efficiency (%) vs 95% Benchmark (Seaborn Viridis)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48640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eaborn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399032"/>
            <a:ext cx="5340096" cy="36393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91072" y="5001768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62B5A"/>
                </a:solidFill>
                <a:latin typeface="Calibri"/>
              </a:rPr>
              <a:t>Figure 4: Seaborn Indicator Correlation Heatmap (Spectral Palette)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94960"/>
            <a:ext cx="11274552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5394960"/>
            <a:ext cx="11274552" cy="347472"/>
          </a:xfrm>
          <a:prstGeom prst="roundRect">
            <a:avLst>
              <a:gd name="adj" fmla="val 4000"/>
            </a:avLst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5458968"/>
            <a:ext cx="10945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Distribution &amp; Compliance Synthesis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779008"/>
            <a:ext cx="1094536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5 Circles Below 95% Benchmark: </a:t>
            </a:r>
            <a:r>
              <a:rPr b="0" sz="950">
                <a:solidFill>
                  <a:srgbClr val="64748B"/>
                </a:solidFill>
                <a:latin typeface="Calibri"/>
              </a:rPr>
              <a:t>Saroornagar and rural district circles show significant unbilled gaps requiring prioritized field inspection squads.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Strong Multi-Collinearity Confirmed: </a:t>
            </a:r>
            <a:r>
              <a:rPr b="0" sz="950">
                <a:solidFill>
                  <a:srgbClr val="64748B"/>
                </a:solidFill>
                <a:latin typeface="Calibri"/>
              </a:rPr>
              <a:t>Spectral heatmap verifies heavy interdependence between Load, TotServices, and Units (+0.95), reinforcing regression findings.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74536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TG-SPDCL Domestic Electricity Consumption &amp; Monitoring  |  Data Analytics &amp; Visualization (DAV)  |  July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7453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"/>
            <a:ext cx="2926080" cy="237744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PILLAR 8: FINAL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Strategic Decision Framework: 4 Pillars &amp; Phased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04672"/>
            <a:ext cx="8961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Data-driven operational interventions to maximize utility revenue and grid stability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8404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836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  <a:latin typeface="Calibri"/>
              </a:rPr>
              <a:t>Compact Syllabus Edition (11 Slides)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274320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2743200" cy="320040"/>
          </a:xfrm>
          <a:prstGeom prst="roundRect">
            <a:avLst>
              <a:gd name="adj" fmla="val 4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7160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Pillar 1: Infrastructure Augmentation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69164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7791"/>
                </a:solidFill>
                <a:latin typeface="Calibri"/>
              </a:rPr>
              <a:t>Focus: Prioritize Top 15% Areas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19202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Target distribution transformer (DTR) capacity doubling on the 2,452 'Very Large' areas driving 50.5% of demand (Hydernagar, Moosapet, Kukatpally).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325880"/>
            <a:ext cx="274320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37560" y="1325880"/>
            <a:ext cx="2743200" cy="320040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37160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Pillar 2: Revenue Protection &amp; Audits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169164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F4444"/>
                </a:solidFill>
                <a:latin typeface="Calibri"/>
              </a:rPr>
              <a:t>Focus: Resolve 648k Unbilled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19202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Deploy field squads to audit the 247 zero-billed sections and 15 negative-unit areas. Enforce billing compliance in circles lagging below 90%.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325880"/>
            <a:ext cx="274320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1325880"/>
            <a:ext cx="2743200" cy="320040"/>
          </a:xfrm>
          <a:prstGeom prst="roundRect">
            <a:avLst>
              <a:gd name="adj" fmla="val 4000"/>
            </a:avLst>
          </a:prstGeom>
          <a:solidFill>
            <a:srgbClr val="16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Pillar 3: Smart Grid Modernization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169164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62B5A"/>
                </a:solidFill>
                <a:latin typeface="Calibri"/>
              </a:rPr>
              <a:t>Focus: Automated Smart Metering (AMI)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9202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Roll out IoT smart meters in high-intensity areas (&gt;250 kWh/kW) and resolve area name ambiguity via GIS composite key tagging.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325880"/>
            <a:ext cx="274320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98280" y="1325880"/>
            <a:ext cx="2743200" cy="320040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1371600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Pillar 4: Tariff &amp; Peak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8" y="169164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D97706"/>
                </a:solidFill>
                <a:latin typeface="Calibri"/>
              </a:rPr>
              <a:t>Focus: Time-of-Day (ToD) Pricing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19202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Introduce dynamic ToD tariffs for domestic connections &gt; 10 kW to shave peak evening residential loads and incentivize off-peak charging.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794760"/>
            <a:ext cx="361188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3794760"/>
            <a:ext cx="3611880" cy="320040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840480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Phase 1: Immediate Sprint (Days 1–30)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420624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Audit 247 zero-billed sections, verify 15 negative-unit areas, and deploy GIS keys.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3794760"/>
            <a:ext cx="361188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297680" y="3794760"/>
            <a:ext cx="3611880" cy="320040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3840480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Phase 2: Targeted Deployment (Days 31–180)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2272" y="420624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Upgrade transformers in top 15% areas, install 250k smart meters, launch live web dashboard.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3794760"/>
            <a:ext cx="3611880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38160" y="3794760"/>
            <a:ext cx="3611880" cy="320040"/>
          </a:xfrm>
          <a:prstGeom prst="roundRect">
            <a:avLst>
              <a:gd name="adj" fmla="val 4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3840480"/>
            <a:ext cx="3429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Phase 3: Utility Transformation (Year 1)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2752" y="420624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Achieve 97%+ billing efficiency across all circles, rollout ToD tariffs, and predictive ML failure models.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574536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TG-SPDCL Domestic Electricity Consumption &amp; Monitoring  |  Data Analytics &amp; Visualization (DAV)  |  July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57453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"/>
            <a:ext cx="2926080" cy="237744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PILLAR 8: FINAL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Business Impact, Financial ROI &amp; Project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04672"/>
            <a:ext cx="8961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Quantifiable returns, system reliability improvements, and summary conclusions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38404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5836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4A3B8"/>
                </a:solidFill>
                <a:latin typeface="Calibri"/>
              </a:rPr>
              <a:t>Compact Syllabus Edition (11 Slides)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0A193B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27432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63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+4.5% Billing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Unlocks ₹85–110 Crore annually by converting unbilled connections to active revenue.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32588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0A193B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32588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463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-35% Transformer Failures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920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Targeted DTR load doubling prevents summer overheating across top 15% sectors.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2588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0A193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32588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463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100% Feeder Traceability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920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Complete elimination of repeated area name ambiguity via GIS composite key tagging.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32588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0A193B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1325880"/>
            <a:ext cx="27432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4630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alibri"/>
              </a:rPr>
              <a:t>Real-Time Telemetry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19202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Interactive monitoring portal enables daily loss tracking rather than 30-day manual delays.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337560"/>
            <a:ext cx="11274552" cy="3017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3337560"/>
            <a:ext cx="11274552" cy="347472"/>
          </a:xfrm>
          <a:prstGeom prst="roundRect">
            <a:avLst>
              <a:gd name="adj" fmla="val 4000"/>
            </a:avLst>
          </a:prstGeom>
          <a:solidFill>
            <a:srgbClr val="162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401568"/>
            <a:ext cx="10945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Executive Summary &amp; Analytical Conclusions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3721608"/>
            <a:ext cx="10945368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Complete 8-Pillar Alignment: </a:t>
            </a:r>
            <a:r>
              <a:rPr b="0" sz="950">
                <a:solidFill>
                  <a:srgbClr val="64748B"/>
                </a:solidFill>
                <a:latin typeface="Calibri"/>
              </a:rPr>
              <a:t>Demonstrated end-to-end data lifecycle from raw multi-file ingestion to statistical modeling, dual-axis visualization, and strategic policy decisions.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High Urban Demand Concentration: </a:t>
            </a:r>
            <a:r>
              <a:rPr b="0" sz="950">
                <a:solidFill>
                  <a:srgbClr val="64748B"/>
                </a:solidFill>
                <a:latin typeface="Calibri"/>
              </a:rPr>
              <a:t>Over 50.5% of electricity is driven by just 15.4% of neighborhood sectors in the Greater Hyderabad ring, requiring focused capital allocation.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Strong Predictive Reliability: </a:t>
            </a:r>
            <a:r>
              <a:rPr b="0" sz="950">
                <a:solidFill>
                  <a:srgbClr val="64748B"/>
                </a:solidFill>
                <a:latin typeface="Calibri"/>
              </a:rPr>
              <a:t>Connected Load (kW) and Units (kWh) show near-perfect linear correlation (r = 0.946), enabling accurate forward demand forecasting.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Actionable Revenue Gains: </a:t>
            </a:r>
            <a:r>
              <a:rPr b="0" sz="950">
                <a:solidFill>
                  <a:srgbClr val="64748B"/>
                </a:solidFill>
                <a:latin typeface="Calibri"/>
              </a:rPr>
              <a:t>Addressing the 648,960 unbilled connections offers immediate high-ROI financial recovery for TG-SPDCL.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  <a:latin typeface="Calibri"/>
              </a:rPr>
              <a:t>•  Academic &amp; Professional Quality: </a:t>
            </a:r>
            <a:r>
              <a:rPr b="0" sz="950">
                <a:solidFill>
                  <a:srgbClr val="64748B"/>
                </a:solidFill>
                <a:latin typeface="Calibri"/>
              </a:rPr>
              <a:t>Completed by Research Team: D. Chander (2503A52214), K. Arjun (2503A52235), P. Sachin (2503A52240). Open for Q&amp;A.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74536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TG-SPDCL Domestic Electricity Consumption &amp; Monitoring  |  Data Analytics &amp; Visualization (DAV)  |  July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7453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