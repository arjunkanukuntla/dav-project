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32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1371600"/>
            <a:ext cx="3230575" cy="4572000"/>
          </a:xfrm>
          <a:prstGeom prst="rect">
            <a:avLst/>
          </a:prstGeom>
          <a:solidFill>
            <a:srgbClr val="192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108960"/>
            <a:ext cx="41148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3200400" cy="347472"/>
          </a:xfrm>
          <a:prstGeom prst="roundRect">
            <a:avLst>
              <a:gd name="adj" fmla="val 40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69264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ACADEMIC DATA ANALYTICS PROJECT (DAV)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Electricity Consumption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B4D8"/>
                </a:solidFill>
                <a:latin typeface="Calibri"/>
              </a:rPr>
              <a:t>&amp; Monitoring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94A3B8"/>
                </a:solidFill>
                <a:latin typeface="Calibri"/>
              </a:rPr>
              <a:t>Comprehensive Analytical Report &amp; Decision Framework (TG-SPDCL July 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6217920" cy="2194560"/>
          </a:xfrm>
          <a:prstGeom prst="roundRect">
            <a:avLst>
              <a:gd name="adj" fmla="val 4000"/>
            </a:avLst>
          </a:prstGeom>
          <a:solidFill>
            <a:srgbClr val="13244E"/>
          </a:solidFill>
          <a:ln w="9525">
            <a:solidFill>
              <a:srgbClr val="007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6217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PROJECT RESEARCH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D. Chander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40740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  <a:latin typeface="Calibri"/>
              </a:rPr>
              <a:t>Roll No: 2503A52214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40740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Data Cleaning, Wrangling &amp; Power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19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K. Arjun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937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  <a:latin typeface="Calibri"/>
              </a:rPr>
              <a:t>Roll No: 2503A52235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9377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Seaborn Visualizations &amp; Correlation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98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P. Sachin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46811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  <a:latin typeface="Calibri"/>
              </a:rPr>
              <a:t>Roll No: 2503A52240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46811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Statistical Modeling &amp; Final Decision Framework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097280"/>
            <a:ext cx="3474720" cy="10515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097280"/>
            <a:ext cx="73152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2070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15,947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6002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  <a:latin typeface="Calibri"/>
              </a:rPr>
              <a:t>SECTOR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82880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20 Circles &amp; 49 Divisions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331720"/>
            <a:ext cx="3474720" cy="10515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331720"/>
            <a:ext cx="73152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44144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8.87M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83464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  <a:latin typeface="Calibri"/>
              </a:rPr>
              <a:t>TOTAL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0632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8.22M Billed Connections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566160"/>
            <a:ext cx="3474720" cy="10515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566160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67588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1,245.5 GWh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06908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alibri"/>
              </a:rPr>
              <a:t>ENERGY CONSUMED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2976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1.245 Billion kWh Total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800600"/>
            <a:ext cx="3474720" cy="105156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4800600"/>
            <a:ext cx="73152" cy="1051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91032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92.68%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30352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  <a:latin typeface="Calibri"/>
              </a:rPr>
              <a:t>BILLING EFFICIENCY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53212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648,960 Unbilled Services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 of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EXECUTIVE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8-Pillar Data Analytics Lifecycle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Structured end-to-end curriculum roadmap for TG-SPDCL electricity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27432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2743200" cy="438912"/>
          </a:xfrm>
          <a:prstGeom prst="roundRect">
            <a:avLst>
              <a:gd name="adj" fmla="val 4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544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01. Project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Domain context, problem statement, TG-SPDCL objectives, and scope boundaries.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46120"/>
            <a:ext cx="2468880" cy="29260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0B4D8"/>
                </a:solidFill>
                <a:latin typeface="Calibri"/>
              </a:rPr>
              <a:t>Phase 1 Deliverable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1463040"/>
            <a:ext cx="27432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7560" y="1463040"/>
            <a:ext cx="2743200" cy="438912"/>
          </a:xfrm>
          <a:prstGeom prst="roundRect">
            <a:avLst>
              <a:gd name="adj" fmla="val 4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8" y="15544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02. Data Exploration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0574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Column dictionary, variable categorization, missing value audit, and anomaly detection.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246120"/>
            <a:ext cx="2468880" cy="29260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291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A316B"/>
                </a:solidFill>
                <a:latin typeface="Calibri"/>
              </a:rPr>
              <a:t>Phase 2 Deliverable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27432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1463040"/>
            <a:ext cx="2743200" cy="438912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15544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03. Basic Statistics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0574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Five-number summary, high skewness, regional rankings, and the 15%/50.5% Pareto rule.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246120"/>
            <a:ext cx="2468880" cy="29260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291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D97706"/>
                </a:solidFill>
                <a:latin typeface="Calibri"/>
              </a:rPr>
              <a:t>Phase 3 Deliverable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463040"/>
            <a:ext cx="27432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98280" y="1463040"/>
            <a:ext cx="2743200" cy="438912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08008" y="155448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04. Data Wrangling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574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6-stage Power Query/Pandas ETL pipeline, cleaning rules, and feature-engineered metrics.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2468880" cy="29260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329184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59669"/>
                </a:solidFill>
                <a:latin typeface="Calibri"/>
              </a:rPr>
              <a:t>Phase 4 Deliverable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886200"/>
            <a:ext cx="27432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7200" y="3886200"/>
            <a:ext cx="2743200" cy="438912"/>
          </a:xfrm>
          <a:prstGeom prst="roundRect">
            <a:avLst>
              <a:gd name="adj" fmla="val 4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39776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05. Variable Connections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4805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Pearson correlation matrix, load vs units coupling (r=0.95), and regression trendlines.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669280"/>
            <a:ext cx="2468880" cy="29260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71500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5CF6"/>
                </a:solidFill>
                <a:latin typeface="Calibri"/>
              </a:rPr>
              <a:t>Phase 5 Deliverable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7560" y="3886200"/>
            <a:ext cx="27432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337560" y="3886200"/>
            <a:ext cx="2743200" cy="438912"/>
          </a:xfrm>
          <a:prstGeom prst="roundRect">
            <a:avLst>
              <a:gd name="adj" fmla="val 4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47288" y="39776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06. Excel Visualizations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44805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Multi-level Pivot Tables, Slicers, Clustered Columns, Donut charts, and tool boundaries.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74720" y="5669280"/>
            <a:ext cx="2468880" cy="29260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0440" y="571500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284C7"/>
                </a:solidFill>
                <a:latin typeface="Calibri"/>
              </a:rPr>
              <a:t>Phase 6 Deliverable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3886200"/>
            <a:ext cx="27432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17920" y="3886200"/>
            <a:ext cx="2743200" cy="438912"/>
          </a:xfrm>
          <a:prstGeom prst="roundRect">
            <a:avLst>
              <a:gd name="adj" fmla="val 4000"/>
            </a:avLst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39776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07. Python Visualizations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44805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Matplotlib &amp; Seaborn advanced plots: Dual-axis, Top 20 areas, KDE curves, and Heatmap.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5669280"/>
            <a:ext cx="2468880" cy="29260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71500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D946EF"/>
                </a:solidFill>
                <a:latin typeface="Calibri"/>
              </a:rPr>
              <a:t>Phase 7 Deliverable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98280" y="3886200"/>
            <a:ext cx="27432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098280" y="3886200"/>
            <a:ext cx="2743200" cy="438912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08008" y="39776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08. Final Decision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8056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Strategic 4-pillar utility action plan, 3-phase roadmap, and measurable revenue ROI.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2468880" cy="292608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571500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F4444"/>
                </a:solidFill>
                <a:latin typeface="Calibri"/>
              </a:rPr>
              <a:t>Phase 8 Deliverable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2 of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1: PROJECT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Project Motivation, Problem Statement &amp; Core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Understanding the critical operational challenges of electricity distribution in Telangana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35661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3566160" cy="384048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1. Utility Background (TG-SPDCL)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01952"/>
            <a:ext cx="3200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Organization: </a:t>
            </a:r>
            <a:r>
              <a:rPr b="0" sz="1000">
                <a:solidFill>
                  <a:srgbClr val="64748B"/>
                </a:solidFill>
                <a:latin typeface="Calibri"/>
              </a:rPr>
              <a:t>Telangana Southern Power Distribution Company Limited.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Operational Footprint: </a:t>
            </a:r>
            <a:r>
              <a:rPr b="0" sz="1000">
                <a:solidFill>
                  <a:srgbClr val="64748B"/>
                </a:solidFill>
                <a:latin typeface="Calibri"/>
              </a:rPr>
              <a:t>Serves 15 southern districts of Telangana including Greater Hyderabad.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Consumer Category: </a:t>
            </a:r>
            <a:r>
              <a:rPr b="0" sz="1000">
                <a:solidFill>
                  <a:srgbClr val="64748B"/>
                </a:solidFill>
                <a:latin typeface="Calibri"/>
              </a:rPr>
              <a:t>Domestic Category 1 (Households, apartments, residential colonies).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Period Covered: </a:t>
            </a:r>
            <a:r>
              <a:rPr b="0" sz="1000">
                <a:solidFill>
                  <a:srgbClr val="64748B"/>
                </a:solidFill>
                <a:latin typeface="Calibri"/>
              </a:rPr>
              <a:t>Monthly billing cycle of July 2026.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Data Scale: </a:t>
            </a:r>
            <a:r>
              <a:rPr b="0" sz="1000">
                <a:solidFill>
                  <a:srgbClr val="64748B"/>
                </a:solidFill>
                <a:latin typeface="Calibri"/>
              </a:rPr>
              <a:t>Over 8.86 million domestic connections across 15,947 neighborhood sectors.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Grid Relevance: </a:t>
            </a:r>
            <a:r>
              <a:rPr b="0" sz="1000">
                <a:solidFill>
                  <a:srgbClr val="64748B"/>
                </a:solidFill>
                <a:latin typeface="Calibri"/>
              </a:rPr>
              <a:t>Domestic load constitutes over 40% of urban peak power demand during summer/monsoon.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35661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1463040"/>
            <a:ext cx="3566160" cy="384048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536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 Core 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01952"/>
            <a:ext cx="3200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Rapid Urban Load Growth: </a:t>
            </a:r>
            <a:r>
              <a:rPr b="0" sz="1000">
                <a:solidFill>
                  <a:srgbClr val="64748B"/>
                </a:solidFill>
                <a:latin typeface="Calibri"/>
              </a:rPr>
              <a:t>Hyper-expansion in western Hyderabad creates severe distribution bottlenecks.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High Unbilled Gap: </a:t>
            </a:r>
            <a:r>
              <a:rPr b="0" sz="1000">
                <a:solidFill>
                  <a:srgbClr val="64748B"/>
                </a:solidFill>
                <a:latin typeface="Calibri"/>
              </a:rPr>
              <a:t>648,960 services unbilled in a single month (~7.32% unbilled rate).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Severe Load Concentration: </a:t>
            </a:r>
            <a:r>
              <a:rPr b="0" sz="1000">
                <a:solidFill>
                  <a:srgbClr val="64748B"/>
                </a:solidFill>
                <a:latin typeface="Calibri"/>
              </a:rPr>
              <a:t>Massive disparity between high-rise urban clusters and rural tribal hamlets.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Revenue Leakage: </a:t>
            </a:r>
            <a:r>
              <a:rPr b="0" sz="1000">
                <a:solidFill>
                  <a:srgbClr val="64748B"/>
                </a:solidFill>
                <a:latin typeface="Calibri"/>
              </a:rPr>
              <a:t>Unmetered connections, delayed meter readings, and billing adjustments.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Transformer Overheating: </a:t>
            </a:r>
            <a:r>
              <a:rPr b="0" sz="1000">
                <a:solidFill>
                  <a:srgbClr val="64748B"/>
                </a:solidFill>
                <a:latin typeface="Calibri"/>
              </a:rPr>
              <a:t>High-intensity areas drawing over 250 kWh/kW causing local outages.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Data Quality Gaps: </a:t>
            </a:r>
            <a:r>
              <a:rPr b="0" sz="1000">
                <a:solidFill>
                  <a:srgbClr val="64748B"/>
                </a:solidFill>
                <a:latin typeface="Calibri"/>
              </a:rPr>
              <a:t>Missing records, negative unit anomalies, and unstandardized area nomenclatures.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63040"/>
            <a:ext cx="35661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463040"/>
            <a:ext cx="3566160" cy="384048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36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3. Key Project Objectives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901952"/>
            <a:ext cx="3200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Consumption Profiling: </a:t>
            </a:r>
            <a:r>
              <a:rPr b="0" sz="1000">
                <a:solidFill>
                  <a:srgbClr val="64748B"/>
                </a:solidFill>
                <a:latin typeface="Calibri"/>
              </a:rPr>
              <a:t>Map total and per-connection energy usage across 20 administrative circles.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Loss Identification: </a:t>
            </a:r>
            <a:r>
              <a:rPr b="0" sz="1000">
                <a:solidFill>
                  <a:srgbClr val="64748B"/>
                </a:solidFill>
                <a:latin typeface="Calibri"/>
              </a:rPr>
              <a:t>Pinpoint divisions and sections lagging below the 95% billing efficiency threshold.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Correlation Modeling: </a:t>
            </a:r>
            <a:r>
              <a:rPr b="0" sz="1000">
                <a:solidFill>
                  <a:srgbClr val="64748B"/>
                </a:solidFill>
                <a:latin typeface="Calibri"/>
              </a:rPr>
              <a:t>Quantify the mathematical dependency between Sanctioned Load and Units Consumed.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Comparative Analytics: </a:t>
            </a:r>
            <a:r>
              <a:rPr b="0" sz="1000">
                <a:solidFill>
                  <a:srgbClr val="64748B"/>
                </a:solidFill>
                <a:latin typeface="Calibri"/>
              </a:rPr>
              <a:t>Demonstrate complementary analytical workflows between Excel and Python.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Decision Support System: </a:t>
            </a:r>
            <a:r>
              <a:rPr b="0" sz="1000">
                <a:solidFill>
                  <a:srgbClr val="64748B"/>
                </a:solidFill>
                <a:latin typeface="Calibri"/>
              </a:rPr>
              <a:t>Deliver data-driven interventions for transformer augmentation and billing audits.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Interactive Dashboard: </a:t>
            </a:r>
            <a:r>
              <a:rPr b="0" sz="1000">
                <a:solidFill>
                  <a:srgbClr val="64748B"/>
                </a:solidFill>
                <a:latin typeface="Calibri"/>
              </a:rPr>
              <a:t>Deploy a real-time web portal for operational grid monitoring.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3 of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1: PROJECT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Administrative Grid Hierarchy &amp; Operational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Structural mapping of the 5-tier distribution network and operational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2148840" cy="365760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3619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 Circles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0195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3E"/>
                </a:solidFill>
                <a:latin typeface="Calibri"/>
              </a:rPr>
              <a:t>Apex Administrative Zone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76272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Medchal, Cybercity, Habsiguda, Banjara Hills, etc.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1488" y="1463040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61488" y="1463040"/>
            <a:ext cx="2148840" cy="365760"/>
          </a:xfrm>
          <a:prstGeom prst="roundRect">
            <a:avLst>
              <a:gd name="adj" fmla="val 4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2928" y="153619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49 Divisions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2928" y="190195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16B"/>
                </a:solidFill>
                <a:latin typeface="Calibri"/>
              </a:rPr>
              <a:t>Operational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2176272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Kukatpally, Mehdipatnam, Saroornagar, Kondapur, etc.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5776" y="1463040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65776" y="1463040"/>
            <a:ext cx="2148840" cy="365760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7216" y="153619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131 Subdivisions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190195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791"/>
                </a:solidFill>
                <a:latin typeface="Calibri"/>
              </a:rPr>
              <a:t>Field Engineering Clusters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7216" y="2176272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Miyapur, Qutbullapur, Uppal, Gachibowli, etc.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70064" y="1463040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70064" y="1463040"/>
            <a:ext cx="2148840" cy="365760"/>
          </a:xfrm>
          <a:prstGeom prst="roundRect">
            <a:avLst>
              <a:gd name="adj" fmla="val 4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61504" y="153619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476 Sections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190195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  <a:latin typeface="Calibri"/>
              </a:rPr>
              <a:t>Local Billing &amp; Line Stations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2176272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Billing offices responsible for meter reading cycles.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74352" y="1463040"/>
            <a:ext cx="214884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74352" y="1463040"/>
            <a:ext cx="2148840" cy="36576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65792" y="153619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15,947 Areas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190195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Granular Consumption Sectors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2176272"/>
            <a:ext cx="1965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Neighborhoods, colonies, streets, and rural hamlets.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749039"/>
            <a:ext cx="54864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7200" y="3749039"/>
            <a:ext cx="5486400" cy="384048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82219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Dataset Boundaries &amp; Strengths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187951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Comprehensive Domestic Coverage: </a:t>
            </a:r>
            <a:r>
              <a:rPr b="0" sz="1000">
                <a:solidFill>
                  <a:srgbClr val="64748B"/>
                </a:solidFill>
                <a:latin typeface="Calibri"/>
              </a:rPr>
              <a:t>Complete census of all registered domestic consumer connections in July 2026.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Granular Hierarchy: </a:t>
            </a:r>
            <a:r>
              <a:rPr b="0" sz="1000">
                <a:solidFill>
                  <a:srgbClr val="64748B"/>
                </a:solidFill>
                <a:latin typeface="Calibri"/>
              </a:rPr>
              <a:t>Enables macro executive summaries (Circle) down to micro root-cause investigations (Section/Area).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Tri-Metric Accounting: </a:t>
            </a:r>
            <a:r>
              <a:rPr b="0" sz="1000">
                <a:solidFill>
                  <a:srgbClr val="64748B"/>
                </a:solidFill>
                <a:latin typeface="Calibri"/>
              </a:rPr>
              <a:t>Simultaneously records connection counts, sanctioned power capacity (kW), and metered units (kWh).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Realistic Operational Nuance: </a:t>
            </a:r>
            <a:r>
              <a:rPr b="0" sz="1000">
                <a:solidFill>
                  <a:srgbClr val="64748B"/>
                </a:solidFill>
                <a:latin typeface="Calibri"/>
              </a:rPr>
              <a:t>Contains true-to-life field artifacts including billing corrections and inactive connections.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749039"/>
            <a:ext cx="54864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17920" y="3749039"/>
            <a:ext cx="5486400" cy="38404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82219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Analytical Limitations &amp; Caveats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187951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Domestic Only (Cat 1): </a:t>
            </a:r>
            <a:r>
              <a:rPr b="0" sz="1000">
                <a:solidFill>
                  <a:srgbClr val="64748B"/>
                </a:solidFill>
                <a:latin typeface="Calibri"/>
              </a:rPr>
              <a:t>Excludes commercial, industrial, and agricultural loads; does not describe total grid demand.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Single Monthly Snapshot: </a:t>
            </a:r>
            <a:r>
              <a:rPr b="0" sz="1000">
                <a:solidFill>
                  <a:srgbClr val="64748B"/>
                </a:solidFill>
                <a:latin typeface="Calibri"/>
              </a:rPr>
              <a:t>July 2026 cross-section precludes longitudinal seasonal time-series trend forecasting.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No Socioeconomic Predictors: </a:t>
            </a:r>
            <a:r>
              <a:rPr b="0" sz="1000">
                <a:solidFill>
                  <a:srgbClr val="64748B"/>
                </a:solidFill>
                <a:latin typeface="Calibri"/>
              </a:rPr>
              <a:t>Lacks household income, building square-footage, weather/temperature, and appliance counts.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Aggregated Feeder Units: </a:t>
            </a:r>
            <a:r>
              <a:rPr b="0" sz="1000">
                <a:solidFill>
                  <a:srgbClr val="64748B"/>
                </a:solidFill>
                <a:latin typeface="Calibri"/>
              </a:rPr>
              <a:t>Data is aggregated at the area level rather than individual smart meter intervals.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4 of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2: DATA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Dataset Architecture &amp; Complete Column Data Dictionary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15,947 rows × 11 active features categorizing domestic electricity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6304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188720"/>
                <a:gridCol w="5303520"/>
                <a:gridCol w="210312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Field Name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Data Type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Description / Analytical Purpose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Sample Value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CIRCLE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Highest administrative division in TG-SPDCL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MEDCHAL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DIVISION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Operational district subdivision managing sections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KUKATPALLY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SUBDIVISION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Engineering maintenance cluster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MIYAPUR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Local billing station responsible for meter collection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HYDERNAGAR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Micro geographic neighborhood or settlement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VIVEKANANDA NAGAR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CATDESC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String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Consumer category description (DOMESTIC)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DOMESTIC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CATCODE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Tariff category classification identifier (Code =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TOTSERVICES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Numerical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Total sanctioned/registered domestic connections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1,240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BILLDSERVICES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Float/Int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Active connections billed during July 2026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UNITS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Numerical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Total metered electrical consumption in kWh (Units)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184,520.0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Numerical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Total sanctioned connected load capacity in Kilowatts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1,850.50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5 of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2: DATA EXPLORATION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Data Quality Audit, Missing Value Profiling &amp; Anomalies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Rigorous diagnostic screening revealing null patterns, negative corrections, and duplicates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26517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2651760" cy="384048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Missing Values (Nulls)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01952"/>
            <a:ext cx="22860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BILLDSERVICES Nulls: </a:t>
            </a:r>
            <a:r>
              <a:rPr b="0" sz="1000">
                <a:solidFill>
                  <a:srgbClr val="64748B"/>
                </a:solidFill>
                <a:latin typeface="Calibri"/>
              </a:rPr>
              <a:t>247 records have missing billed service values.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The Zero-Unit Pattern: </a:t>
            </a:r>
            <a:r>
              <a:rPr b="0" sz="1000">
                <a:solidFill>
                  <a:srgbClr val="64748B"/>
                </a:solidFill>
                <a:latin typeface="Calibri"/>
              </a:rPr>
              <a:t>Crucially, 100% of these 247 rows have exactly 0 metered units.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Root Cause Diagnosis: </a:t>
            </a:r>
            <a:r>
              <a:rPr b="0" sz="1000">
                <a:solidFill>
                  <a:srgbClr val="64748B"/>
                </a:solidFill>
                <a:latin typeface="Calibri"/>
              </a:rPr>
              <a:t>Represents uncommissioned, inactive, or unmetered service feeders.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AREA Name Nulls: </a:t>
            </a:r>
            <a:r>
              <a:rPr b="0" sz="1000">
                <a:solidFill>
                  <a:srgbClr val="64748B"/>
                </a:solidFill>
                <a:latin typeface="Calibri"/>
              </a:rPr>
              <a:t>47 records feature missing area name strings.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Remediation Strategy: </a:t>
            </a:r>
            <a:r>
              <a:rPr b="0" sz="1000">
                <a:solidFill>
                  <a:srgbClr val="64748B"/>
                </a:solidFill>
                <a:latin typeface="Calibri"/>
              </a:rPr>
              <a:t>Impute AREA as 'UNKNOWN AREA'; impute missing billed services to 0 or total.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463040"/>
            <a:ext cx="26517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91840" y="1463040"/>
            <a:ext cx="2651760" cy="38404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536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Negative Consumption (15)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1901952"/>
            <a:ext cx="22860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Observed Minimum: </a:t>
            </a:r>
            <a:r>
              <a:rPr b="0" sz="1000">
                <a:solidFill>
                  <a:srgbClr val="64748B"/>
                </a:solidFill>
                <a:latin typeface="Calibri"/>
              </a:rPr>
              <a:t>-1,703.0 kWh observed in rural agricultural-border feeders.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Total Occurrences: </a:t>
            </a:r>
            <a:r>
              <a:rPr b="0" sz="1000">
                <a:solidFill>
                  <a:srgbClr val="64748B"/>
                </a:solidFill>
                <a:latin typeface="Calibri"/>
              </a:rPr>
              <a:t>15 records feature negative unit values.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Accounting Meaning: </a:t>
            </a:r>
            <a:r>
              <a:rPr b="0" sz="1000">
                <a:solidFill>
                  <a:srgbClr val="64748B"/>
                </a:solidFill>
                <a:latin typeface="Calibri"/>
              </a:rPr>
              <a:t>Utility accounting adjustments resulting from prior over-billing reversals or faulty meters.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Impact Assessment: </a:t>
            </a:r>
            <a:r>
              <a:rPr b="0" sz="1000">
                <a:solidFill>
                  <a:srgbClr val="64748B"/>
                </a:solidFill>
                <a:latin typeface="Calibri"/>
              </a:rPr>
              <a:t>Distorts local efficiency if left untreated; clamped to 0.0 in analytical pipelines.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63040"/>
            <a:ext cx="26517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1463040"/>
            <a:ext cx="2651760" cy="384048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536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Zero Consumption (344)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901952"/>
            <a:ext cx="22860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Zero-Unit Areas: </a:t>
            </a:r>
            <a:r>
              <a:rPr b="0" sz="1000">
                <a:solidFill>
                  <a:srgbClr val="64748B"/>
                </a:solidFill>
                <a:latin typeface="Calibri"/>
              </a:rPr>
              <a:t>344 records record exactly 0.0 kWh consumed despite active connections.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Geographic Clustering: </a:t>
            </a:r>
            <a:r>
              <a:rPr b="0" sz="1000">
                <a:solidFill>
                  <a:srgbClr val="64748B"/>
                </a:solidFill>
                <a:latin typeface="Calibri"/>
              </a:rPr>
              <a:t>Concentrated in rural tribal settlements ('THANDAS') in Nalgonda &amp; Suryapet.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Operational Nature: </a:t>
            </a:r>
            <a:r>
              <a:rPr b="0" sz="1000">
                <a:solidFill>
                  <a:srgbClr val="64748B"/>
                </a:solidFill>
                <a:latin typeface="Calibri"/>
              </a:rPr>
              <a:t>Valid real-world state representing vacant homes, seasonal migration, or disconnected lines.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Retained in Model: </a:t>
            </a:r>
            <a:r>
              <a:rPr b="0" sz="1000">
                <a:solidFill>
                  <a:srgbClr val="64748B"/>
                </a:solidFill>
                <a:latin typeface="Calibri"/>
              </a:rPr>
              <a:t>Kept intact to avoid artificially inflating average consumption benchmarks.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46304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0" y="1463040"/>
            <a:ext cx="2743200" cy="384048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Nomenclature Duplication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01952"/>
            <a:ext cx="2377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Duplicate Area Labels: </a:t>
            </a:r>
            <a:r>
              <a:rPr b="0" sz="1000">
                <a:solidFill>
                  <a:srgbClr val="64748B"/>
                </a:solidFill>
                <a:latin typeface="Calibri"/>
              </a:rPr>
              <a:t>1,999 area names repeat across different sections.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Common Examples: </a:t>
            </a:r>
            <a:r>
              <a:rPr b="0" sz="1000">
                <a:solidFill>
                  <a:srgbClr val="64748B"/>
                </a:solidFill>
                <a:latin typeface="Calibri"/>
              </a:rPr>
              <a:t>'MAIN ROAD', 'GANDHI NAGAR', 'SC COLONY', 'HOUSING BOARD'.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Data Hygiene Lesson: </a:t>
            </a:r>
            <a:r>
              <a:rPr b="0" sz="1000">
                <a:solidFill>
                  <a:srgbClr val="64748B"/>
                </a:solidFill>
                <a:latin typeface="Calibri"/>
              </a:rPr>
              <a:t>Area names cannot serve as primary keys without concatenating Section and Division IDs.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Power Query Cleaning: </a:t>
            </a:r>
            <a:r>
              <a:rPr b="0" sz="1000">
                <a:solidFill>
                  <a:srgbClr val="64748B"/>
                </a:solidFill>
                <a:latin typeface="Calibri"/>
              </a:rPr>
              <a:t>Standardized by trimming whitespace, uppercase formatting, and composite indexing.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6 of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3: BASIC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Five-Number Statistical Summary &amp; Extreme Skewness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Parametric vs non-parametric metrics demonstrating extreme right-skewed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6304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2377440"/>
                <a:gridCol w="219456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Metric / Variable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Registered Services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Billed Services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Consumption (kWh)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Connected Load (kW)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Count (Records)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15,947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15,700 (247 null)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15,947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15,947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Mean (Average)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556.1 services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523.0 services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78,103.6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864.04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Standard Deviation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626.2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605.8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112,930.4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1,529.57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Minimum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-1,703.0 (Anomalous)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0.12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25th Percentile (Q1)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152.0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138.0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11,312.0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86.00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50th Percentile (Median)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382.0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345.0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36,826.0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316.00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75th Percentile (Q3)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735.5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690.0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102,405.5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1,058.15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Interquartile Range (IQR)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583.5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552.0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91,093.5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972.15 kW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Maximum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12,182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11,886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2,319,144.0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33,617.69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4572000"/>
            <a:ext cx="530352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5303520" cy="384048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451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Parametric Skewness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10912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Mean vs Median Disparity: </a:t>
            </a:r>
            <a:r>
              <a:rPr b="0" sz="1000">
                <a:solidFill>
                  <a:srgbClr val="64748B"/>
                </a:solidFill>
                <a:latin typeface="Calibri"/>
              </a:rPr>
              <a:t>Mean consumption (78.1k kWh) is more than 2.1× higher than Median (36.8k kWh).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Long Right Tail: </a:t>
            </a:r>
            <a:r>
              <a:rPr b="0" sz="1000">
                <a:solidFill>
                  <a:srgbClr val="64748B"/>
                </a:solidFill>
                <a:latin typeface="Calibri"/>
              </a:rPr>
              <a:t>Max value of 2.32M kWh (Hydernagar) is 63× greater than the median sector.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Robust Statistics Rule: </a:t>
            </a:r>
            <a:r>
              <a:rPr b="0" sz="1000">
                <a:solidFill>
                  <a:srgbClr val="64748B"/>
                </a:solidFill>
                <a:latin typeface="Calibri"/>
              </a:rPr>
              <a:t>Median and IQR must be reported alongside Mean to prevent distorted benchmarks.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572000"/>
            <a:ext cx="566928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0" y="4572000"/>
            <a:ext cx="5669280" cy="38404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6451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1.5 × IQR Outlier Detection (Tukey's Rule)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010912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Upper Threshold for Units: </a:t>
            </a:r>
            <a:r>
              <a:rPr b="0" sz="1000">
                <a:solidFill>
                  <a:srgbClr val="64748B"/>
                </a:solidFill>
                <a:latin typeface="Calibri"/>
              </a:rPr>
              <a:t>Q3 + (1.5 × IQR) = 102,405 + 136,640 = 239,045 kWh.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Flagged Sectors: </a:t>
            </a:r>
            <a:r>
              <a:rPr b="0" sz="1000">
                <a:solidFill>
                  <a:srgbClr val="64748B"/>
                </a:solidFill>
                <a:latin typeface="Calibri"/>
              </a:rPr>
              <a:t>Approximately 1,120 areas exceed this threshold as heavy load epicenters.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Actionable Protocol: </a:t>
            </a:r>
            <a:r>
              <a:rPr b="0" sz="1000">
                <a:solidFill>
                  <a:srgbClr val="64748B"/>
                </a:solidFill>
                <a:latin typeface="Calibri"/>
              </a:rPr>
              <a:t>Investigate extreme values against feeder ratings before treating as errors.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7 of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3: BASIC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Circle Rankings &amp; The Urban-Rural Disparity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Comparison of 20 electricity circles reveals profound geographical concentration of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63040"/>
          <a:ext cx="103327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828800"/>
                <a:gridCol w="1188720"/>
                <a:gridCol w="2011680"/>
                <a:gridCol w="1828800"/>
              </a:tblGrid>
              <a:tr h="28263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Performance Tier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Circle Name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Total Units (GWh)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Share (%)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Billed Connections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Avg kWh / Service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Top 1 (Highest)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MEDCHAL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141.74 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11.38%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806,897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175.7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Top 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HABSIGUDA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138.12 GWh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11.09%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751,204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183.9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Top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CYBERCITY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125.43 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10.07%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572,423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219.1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Top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HYD CENTRAL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112.51 GWh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9.03%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518,412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217.0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Top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SAROORNAGAR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112.30 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9.02%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682,149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164.6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Bottom 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VIKARABAD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17.92 GWh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1.44%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215,901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83.0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Bottom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MEDAK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15.91 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189,402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84.0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Bottom 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NAGARKURNOOL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13.12 GWh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1.05%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174,930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75.0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Bottom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WANAPARTHY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10.11 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0.81%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134,800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75.0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26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Bottom 1 (Lowest)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GADWAL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10.02 GWh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0.80%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123,700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81.0 kWh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4709160"/>
            <a:ext cx="530352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709160"/>
            <a:ext cx="5303520" cy="384048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823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Hyderabad Urban Dominance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48072"/>
            <a:ext cx="4937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Top 5 Circles Consume 50.6%: </a:t>
            </a:r>
            <a:r>
              <a:rPr b="0" sz="1000">
                <a:solidFill>
                  <a:srgbClr val="64748B"/>
                </a:solidFill>
                <a:latin typeface="Calibri"/>
              </a:rPr>
              <a:t>The top 5 urban circles account for 630.1 GWh out of 1,245.5 GWh.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Top 10 Circles Supply ~90%: </a:t>
            </a:r>
            <a:r>
              <a:rPr b="0" sz="1000">
                <a:solidFill>
                  <a:srgbClr val="64748B"/>
                </a:solidFill>
                <a:latin typeface="Calibri"/>
              </a:rPr>
              <a:t>Virtually all major demand is concentrated in the Greater Hyderabad 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709160"/>
            <a:ext cx="56692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0" y="4709160"/>
            <a:ext cx="5669280" cy="384048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7823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The 3× Lifestyle Consumption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148072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Affluence &amp; Appliance Usage: </a:t>
            </a:r>
            <a:r>
              <a:rPr b="0" sz="1000">
                <a:solidFill>
                  <a:srgbClr val="64748B"/>
                </a:solidFill>
                <a:latin typeface="Calibri"/>
              </a:rPr>
              <a:t>Banjara Hills (240 kWh) &amp; Cybercity (219 kWh) lead consumption intensity.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District Baseline: </a:t>
            </a:r>
            <a:r>
              <a:rPr b="0" sz="1000">
                <a:solidFill>
                  <a:srgbClr val="64748B"/>
                </a:solidFill>
                <a:latin typeface="Calibri"/>
              </a:rPr>
              <a:t>Rural circles average 75-83 kWh/connection — nearly one-third of tech corridor usage.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8 of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3: BASIC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Pareto Principle: Area-Size Tier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15.4% of neighborhood areas account for over half (50.5%) of total electricity consumed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2743200" cy="438912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Very Large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933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  <a:latin typeface="Calibri"/>
              </a:rPr>
              <a:t>&gt; 1,000 Services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286000"/>
            <a:ext cx="2377440" cy="6400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31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SECTOR 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14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  <a:latin typeface="Calibri"/>
              </a:rPr>
              <a:t>2,452 Areas (15.4%)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17520"/>
            <a:ext cx="2377440" cy="6400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632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ENERGY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46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  <a:latin typeface="Calibri"/>
              </a:rPr>
              <a:t>629.0 GWh (50.5%)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High-density urban apartment corridors, IT corridors &amp; townships. Highest priority for transformer health.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146304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37560" y="1463040"/>
            <a:ext cx="2743200" cy="438912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Large Areas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19933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  <a:latin typeface="Calibri"/>
              </a:rPr>
              <a:t>501 to 1,000 Services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2286000"/>
            <a:ext cx="2377440" cy="6400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2331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SECTOR 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2514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  <a:latin typeface="Calibri"/>
              </a:rPr>
              <a:t>3,810 Areas (23.9%)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3017520"/>
            <a:ext cx="2377440" cy="6400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30632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ENERGY 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246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  <a:latin typeface="Calibri"/>
              </a:rPr>
              <a:t>301.4 GWh (24.2%)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37947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Established municipal colonies and commercial-residential mixed zones. High baseline consumption.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46304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0" y="1463040"/>
            <a:ext cx="2743200" cy="438912"/>
          </a:xfrm>
          <a:prstGeom prst="roundRect">
            <a:avLst>
              <a:gd name="adj" fmla="val 4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Medium Areas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19933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316B"/>
                </a:solidFill>
                <a:latin typeface="Calibri"/>
              </a:rPr>
              <a:t>201 to 500 Services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286000"/>
            <a:ext cx="2377440" cy="6400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2331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SECTOR COUNT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514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  <a:latin typeface="Calibri"/>
              </a:rPr>
              <a:t>5,120 Areas (32.1%)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3017520"/>
            <a:ext cx="2377440" cy="6400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0632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ENERGY SHARE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246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16B"/>
                </a:solidFill>
                <a:latin typeface="Calibri"/>
              </a:rPr>
              <a:t>225.4 GWh (18.1%)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37947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Semi-urban and peri-urban wards. Moderate per-feeder loading with stable seasonal demand.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1463040"/>
            <a:ext cx="27432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98280" y="1463040"/>
            <a:ext cx="2743200" cy="438912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972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Small Areas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19933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  <a:latin typeface="Calibri"/>
              </a:rPr>
              <a:t>1 to 200 Services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81160" y="2286000"/>
            <a:ext cx="2377440" cy="6400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2331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SECTOR COUNT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2514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  <a:latin typeface="Calibri"/>
              </a:rPr>
              <a:t>4,565 Areas (28.6%)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81160" y="3017520"/>
            <a:ext cx="2377440" cy="6400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30632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4748B"/>
                </a:solidFill>
                <a:latin typeface="Calibri"/>
              </a:rPr>
              <a:t>ENERGY SHARE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3246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9669"/>
                </a:solidFill>
                <a:latin typeface="Calibri"/>
              </a:rPr>
              <a:t>89.7 GWh (7.2%)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379476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Rural hamlets, agricultural borders, and tribal thandas. Extensive line length but minimal energy volume.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9 of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4: DATA WRANGLING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6-Step Automated Data Wrangling &amp; ETL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Systematic data transformations applied in Power Query and Python 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11274552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2286000" cy="713232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824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1: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62763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Connect to multi-source CSV &amp; Excel workbooks via Power Query Folder connector / Pandas read_csv.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9424"/>
            <a:ext cx="11274552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249424"/>
            <a:ext cx="2286000" cy="713232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2: Null Treatment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414016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Impute 47 missing AREA names as 'UNKNOWN AREA'; replace missing BILLDSERVICES with 0 / registered services.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35808"/>
            <a:ext cx="11274552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035808"/>
            <a:ext cx="2286000" cy="713232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552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3: Anomaly Clamping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20040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Identify 15 negative consumption records and clamp units to min 0.0; clamp minimum load to 0.01 kW.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22192"/>
            <a:ext cx="11274552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822192"/>
            <a:ext cx="2286000" cy="713232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416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4: Text Normalization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986784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Trim leading/trailing whitespace, resolve capitalization mismatches, and build Section-Area keys.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08576"/>
            <a:ext cx="11274552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4608576"/>
            <a:ext cx="2286000" cy="713232"/>
          </a:xfrm>
          <a:prstGeom prst="roundRect">
            <a:avLst>
              <a:gd name="adj" fmla="val 4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280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5: Type Casting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773168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Cast service counts to uint32, metered units to float64, and administrative levels to categorical strings.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394960"/>
            <a:ext cx="11274552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200" y="5394960"/>
            <a:ext cx="2286000" cy="713232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6144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6: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559552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172A"/>
                </a:solidFill>
                <a:latin typeface="Calibri"/>
              </a:rPr>
              <a:t>Enforce logical integrity constraints: (BILLDSERVICES &lt;= TOTSERVICES), recalculate summaries.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10 of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4: DATA WRANGLING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Feature Engineering: Synthesizing Domain Indicators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Mathematical formulations enabling multi-dimensional utility efficiency assessments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4864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5486400" cy="384048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Billing Efficiency Rate (%)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38528"/>
            <a:ext cx="5120640" cy="411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  <a:latin typeface="Courier New"/>
              </a:rPr>
              <a:t>billing_rate_pct = (BILLDSERVICES / TOTSERVICES) *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Quantifies revenue capture performance. Highlights areas with severe metering delays, non-functional meters, or ghost connections. Benchmark is 95%.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5486400" cy="384048"/>
          </a:xfrm>
          <a:prstGeom prst="roundRect">
            <a:avLst>
              <a:gd name="adj" fmla="val 4000"/>
            </a:avLst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5361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Consumption Intensity per Connection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38528"/>
            <a:ext cx="5120640" cy="411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  <a:latin typeface="Courier New"/>
              </a:rPr>
              <a:t>units_per_billed_service = UNITS / BILLDSERVICES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6888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Normalizes consumption against connection volume. Eliminates size bias, revealing true household lifestyle intensity (e.g., Banjara Hills vs Rural).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86200"/>
            <a:ext cx="54864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3886200"/>
            <a:ext cx="5486400" cy="38404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593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Load Utilization Ratio (kWh / kW)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61688"/>
            <a:ext cx="5120640" cy="411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34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  <a:latin typeface="Courier New"/>
              </a:rPr>
              <a:t>units_per_kw_load = UNITS / 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920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Measures how heavily connected power capacity is utilized. Sectors &gt; 250 kWh/kW indicate severe transformer strain or commercial misuse of domestic tariffs.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886200"/>
            <a:ext cx="54864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3886200"/>
            <a:ext cx="5486400" cy="384048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9593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Unbilled Service Gap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361688"/>
            <a:ext cx="5120640" cy="41148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434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3E"/>
                </a:solidFill>
                <a:latin typeface="Courier New"/>
              </a:rPr>
              <a:t>unbilled_services = TOTSERVICES - BILLDSERVICES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920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Direct head-count of meters that failed to register billing in July 2026. Feeds directly into field inspection priority queues (total 648,960 services).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11 of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5: VARIABLE CONNECTIONS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Correlation Analysis &amp; Pairwise Mathematical Associations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Evaluating Pearson correlation coefficients across operational electrical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630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2011680"/>
                <a:gridCol w="530352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Variable Pair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Correlation (r)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Relationship Strength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Analytical &amp; Operational Interpretation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TOTSERVICES ↔ BILLDSERVICES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+0.995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Near Perfect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Sanctioned connection count strongly dictates billed connections across all regions.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LOAD (kW) ↔ UNITS (kWh)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+0.946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Very Strong Positive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Connected load capacity is the primary physical driver of metered energy consumption.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BILLDSERVICES ↔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+0.884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Strong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Larger customer bases naturally generate higher aggregated energy demand.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TOTSERVICES ↔ UNITS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+0.863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Strong Positive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Total registered connections reliably predict area-level gross consumption.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BILLDSERVICES ↔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+0.786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Moderate-High 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Sanctioned load accumulates linearly as household connection counts expand.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D1B3E"/>
                          </a:solidFill>
                          <a:latin typeface="Calibri"/>
                        </a:rPr>
                        <a:t>TOTSERVICES ↔ 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+0.763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Moderate-High Positive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0F172A"/>
                          </a:solidFill>
                          <a:latin typeface="Calibri"/>
                        </a:rPr>
                        <a:t>Aggregate connected infrastructure tracks total neighborhood scale.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57200" y="4572000"/>
            <a:ext cx="112745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11274552" cy="384048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45152"/>
            <a:ext cx="10908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Analytical Finding: Association vs Physical Causation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10912"/>
            <a:ext cx="10908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Physical Power Reality: </a:t>
            </a:r>
            <a:r>
              <a:rPr b="0" sz="1000">
                <a:solidFill>
                  <a:srgbClr val="64748B"/>
                </a:solidFill>
                <a:latin typeface="Calibri"/>
              </a:rPr>
              <a:t>High connected load (kW) does not cause electricity usage by itself — it creates the capacity for appliances (ACs, pumps) to consume power.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Absence of Tariff/Weather Covariates: </a:t>
            </a:r>
            <a:r>
              <a:rPr b="0" sz="1000">
                <a:solidFill>
                  <a:srgbClr val="64748B"/>
                </a:solidFill>
                <a:latin typeface="Calibri"/>
              </a:rPr>
              <a:t>Because temperature, humidity, and building square footage are absent, LOAD serves as the best available mathematical proxy for consumption capacity.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Anomaly Detection Utility: </a:t>
            </a:r>
            <a:r>
              <a:rPr b="0" sz="1000">
                <a:solidFill>
                  <a:srgbClr val="64748B"/>
                </a:solidFill>
                <a:latin typeface="Calibri"/>
              </a:rPr>
              <a:t>Any area deviating significantly from the expected r = 0.95 regression line flags possible unmetered power theft, faulty meters, or misclassified commercial activity.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12 of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5: VARIABLE CONNECTIONS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Connected Load vs Consumed Units: Regression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Empirical validation of the 0.946 correlation through Seaborn scatter &amp; linear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621792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ad_vs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36192"/>
            <a:ext cx="6071616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5943600"/>
            <a:ext cx="6071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16B"/>
                </a:solidFill>
                <a:latin typeface="Calibri"/>
              </a:rPr>
              <a:t>Figure: Connected Load (kW) vs Consumed Units (MWh) with Seaborn Regplot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463040"/>
            <a:ext cx="4846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0" y="1463040"/>
            <a:ext cx="4846320" cy="384048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5361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Regression Slope &amp; Load 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01952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Linear Regression Trend: </a:t>
            </a:r>
            <a:r>
              <a:rPr b="0" sz="1000">
                <a:solidFill>
                  <a:srgbClr val="64748B"/>
                </a:solidFill>
                <a:latin typeface="Calibri"/>
              </a:rPr>
              <a:t>The red regression line displays a consistent upward slope confirming linear scalability.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Tight Baseload Band: </a:t>
            </a:r>
            <a:r>
              <a:rPr b="0" sz="1000">
                <a:solidFill>
                  <a:srgbClr val="64748B"/>
                </a:solidFill>
                <a:latin typeface="Calibri"/>
              </a:rPr>
              <a:t>The dense cluster between 0-2,000 kW shows tightly bounded baseload domestic behavior.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Load Factor Consistency: </a:t>
            </a:r>
            <a:r>
              <a:rPr b="0" sz="1000">
                <a:solidFill>
                  <a:srgbClr val="64748B"/>
                </a:solidFill>
                <a:latin typeface="Calibri"/>
              </a:rPr>
              <a:t>Average load factor across domestic sectors remains within 18% to 26% during the monsoon month.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931920"/>
            <a:ext cx="4846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0" y="3931920"/>
            <a:ext cx="4846320" cy="384048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0050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Outlier &amp; Anomaly Clustering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370832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High Vertical Scatter: </a:t>
            </a:r>
            <a:r>
              <a:rPr b="0" sz="1000">
                <a:solidFill>
                  <a:srgbClr val="64748B"/>
                </a:solidFill>
                <a:latin typeface="Calibri"/>
              </a:rPr>
              <a:t>Sectors plotted well above the regression line indicate high consumption per kW (heavy AC/luxury loads).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Sub-Regression Trajectory: </a:t>
            </a:r>
            <a:r>
              <a:rPr b="0" sz="1000">
                <a:solidFill>
                  <a:srgbClr val="64748B"/>
                </a:solidFill>
                <a:latin typeface="Calibri"/>
              </a:rPr>
              <a:t>Points well below the line represent areas with high sanctioned load but low actual consumption (vacant apartments/plots).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Operational Value: </a:t>
            </a:r>
            <a:r>
              <a:rPr b="0" sz="1000">
                <a:solidFill>
                  <a:srgbClr val="64748B"/>
                </a:solidFill>
                <a:latin typeface="Calibri"/>
              </a:rPr>
              <a:t>Enables TG-SPDCL to set dynamic power supply schedules and detect meter bypass.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13 of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6: EXCEL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Microsoft Excel Analytics: Pivot Tables &amp; Multi-Tier Slicers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Rapid ad-hoc aggregation workflows across Circles, Divisions, and Section hierarchies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35661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3566160" cy="384048"/>
          </a:xfrm>
          <a:prstGeom prst="roundRect">
            <a:avLst>
              <a:gd name="adj" fmla="val 4000"/>
            </a:avLst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1. Circle-Level Pivot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01952"/>
            <a:ext cx="3200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Rows: </a:t>
            </a:r>
            <a:r>
              <a:rPr b="0" sz="1000">
                <a:solidFill>
                  <a:srgbClr val="64748B"/>
                </a:solidFill>
                <a:latin typeface="Calibri"/>
              </a:rPr>
              <a:t>CIRCLE (20 distinct values).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Values: </a:t>
            </a:r>
            <a:r>
              <a:rPr b="0" sz="1000">
                <a:solidFill>
                  <a:srgbClr val="64748B"/>
                </a:solidFill>
                <a:latin typeface="Calibri"/>
              </a:rPr>
              <a:t>Sum of UNITS, Sum of LOAD, Sum of TOTSERVICES, Sum of BILLDSERVICES.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Calculated Field: </a:t>
            </a:r>
            <a:r>
              <a:rPr b="0" sz="1000">
                <a:solidFill>
                  <a:srgbClr val="64748B"/>
                </a:solidFill>
                <a:latin typeface="Calibri"/>
              </a:rPr>
              <a:t>'Billing Rate %' = BILLDSERVICES / TOTSERVICES.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Sorting: </a:t>
            </a:r>
            <a:r>
              <a:rPr b="0" sz="1000">
                <a:solidFill>
                  <a:srgbClr val="64748B"/>
                </a:solidFill>
                <a:latin typeface="Calibri"/>
              </a:rPr>
              <a:t>Descending by Sum of UNITS.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Executive Insight: </a:t>
            </a:r>
            <a:r>
              <a:rPr b="0" sz="1000">
                <a:solidFill>
                  <a:srgbClr val="64748B"/>
                </a:solidFill>
                <a:latin typeface="Calibri"/>
              </a:rPr>
              <a:t>Instantly separates high-consumption metro circles (Medchal, Habsiguda) from rural districts (Gadwal).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Formatting: </a:t>
            </a:r>
            <a:r>
              <a:rPr b="0" sz="1000">
                <a:solidFill>
                  <a:srgbClr val="64748B"/>
                </a:solidFill>
                <a:latin typeface="Calibri"/>
              </a:rPr>
              <a:t>Excel Data Bars applied to Units column for rapid visual benchmarking.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63040"/>
            <a:ext cx="35661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1463040"/>
            <a:ext cx="3566160" cy="384048"/>
          </a:xfrm>
          <a:prstGeom prst="roundRect">
            <a:avLst>
              <a:gd name="adj" fmla="val 4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536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 Division &amp; Section Drill-Down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01952"/>
            <a:ext cx="3200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Hierarchical Nesting: </a:t>
            </a:r>
            <a:r>
              <a:rPr b="0" sz="1000">
                <a:solidFill>
                  <a:srgbClr val="64748B"/>
                </a:solidFill>
                <a:latin typeface="Calibri"/>
              </a:rPr>
              <a:t>CIRCLE &gt; DIVISION &gt; SECTION.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Metrics: </a:t>
            </a:r>
            <a:r>
              <a:rPr b="0" sz="1000">
                <a:solidFill>
                  <a:srgbClr val="64748B"/>
                </a:solidFill>
                <a:latin typeface="Calibri"/>
              </a:rPr>
              <a:t>Sum of UNITS and Average Units per Billed Service.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Interactive Slicers: </a:t>
            </a:r>
            <a:r>
              <a:rPr b="0" sz="1000">
                <a:solidFill>
                  <a:srgbClr val="64748B"/>
                </a:solidFill>
                <a:latin typeface="Calibri"/>
              </a:rPr>
              <a:t>Slicers added for CIRCLE to allow field engineers to isolate one zone with one click.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Conditional Formatting: </a:t>
            </a:r>
            <a:r>
              <a:rPr b="0" sz="1000">
                <a:solidFill>
                  <a:srgbClr val="64748B"/>
                </a:solidFill>
                <a:latin typeface="Calibri"/>
              </a:rPr>
              <a:t>Highlight cells with Billing Efficiency &lt; 85% in Light Red Fill.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Top Division Identified: </a:t>
            </a:r>
            <a:r>
              <a:rPr b="0" sz="1000">
                <a:solidFill>
                  <a:srgbClr val="64748B"/>
                </a:solidFill>
                <a:latin typeface="Calibri"/>
              </a:rPr>
              <a:t>Kukatpally (62.0M units) and Sainikpuri (55.2M units) drive regional totals.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63040"/>
            <a:ext cx="356616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463040"/>
            <a:ext cx="3566160" cy="38404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36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3. Advanced Excel Filtering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901952"/>
            <a:ext cx="3200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Negative Units Filter: </a:t>
            </a:r>
            <a:r>
              <a:rPr b="0" sz="1000">
                <a:solidFill>
                  <a:srgbClr val="64748B"/>
                </a:solidFill>
                <a:latin typeface="Calibri"/>
              </a:rPr>
              <a:t>Filter UNITS &lt; 0 isolates the 15 billing reversal rows in seconds.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Null Billed Services Filter: </a:t>
            </a:r>
            <a:r>
              <a:rPr b="0" sz="1000">
                <a:solidFill>
                  <a:srgbClr val="64748B"/>
                </a:solidFill>
                <a:latin typeface="Calibri"/>
              </a:rPr>
              <a:t>Filtering blank BILLDSERVICES exposes the 247 zero-consumption sectors.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Top 10% Areas: </a:t>
            </a:r>
            <a:r>
              <a:rPr b="0" sz="1000">
                <a:solidFill>
                  <a:srgbClr val="64748B"/>
                </a:solidFill>
                <a:latin typeface="Calibri"/>
              </a:rPr>
              <a:t>Filtering the top decile reveals that 1,595 areas account for 43% of all domestic units.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Domestic HT Outliers: </a:t>
            </a:r>
            <a:r>
              <a:rPr b="0" sz="1000">
                <a:solidFill>
                  <a:srgbClr val="64748B"/>
                </a:solidFill>
                <a:latin typeface="Calibri"/>
              </a:rPr>
              <a:t>Filtering per-connection average &gt; 3,000 units surfaces bulk residential high-tension connections.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14 of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6: EXCEL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Excel Visual Dashboards vs Tool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Clustered Column and Donut charts in Excel compared against Python data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621792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xcel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36192"/>
            <a:ext cx="6071616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5943600"/>
            <a:ext cx="6071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16B"/>
                </a:solidFill>
                <a:latin typeface="Calibri"/>
              </a:rPr>
              <a:t>Figure: Microsoft Excel Visualizations (Clustered Column &amp; 2D Donut Chart)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463040"/>
            <a:ext cx="4846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0" y="1463040"/>
            <a:ext cx="4846320" cy="384048"/>
          </a:xfrm>
          <a:prstGeom prst="roundRect">
            <a:avLst>
              <a:gd name="adj" fmla="val 4000"/>
            </a:avLst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5361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Microsoft Excel Strengths in DAV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01952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Zero-Code Accessibility: </a:t>
            </a:r>
            <a:r>
              <a:rPr b="0" sz="1000">
                <a:solidFill>
                  <a:srgbClr val="64748B"/>
                </a:solidFill>
                <a:latin typeface="Calibri"/>
              </a:rPr>
              <a:t>Immediate interface for field staff, managers, and non-technical stakeholders.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Interactive Slicers &amp; Timelines: </a:t>
            </a:r>
            <a:r>
              <a:rPr b="0" sz="1000">
                <a:solidFill>
                  <a:srgbClr val="64748B"/>
                </a:solidFill>
                <a:latin typeface="Calibri"/>
              </a:rPr>
              <a:t>Fluid point-and-click dashboard filtering without code recompilation.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Native Business Reporting: </a:t>
            </a:r>
            <a:r>
              <a:rPr b="0" sz="1000">
                <a:solidFill>
                  <a:srgbClr val="64748B"/>
                </a:solidFill>
                <a:latin typeface="Calibri"/>
              </a:rPr>
              <a:t>Standard format for utility tariff filings, regulatory audits, and weekly reviews.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931920"/>
            <a:ext cx="4846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0" y="3931920"/>
            <a:ext cx="4846320" cy="384048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0050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Excel Limitations &amp; Why Python is Essential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370832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Scalability Constraints: </a:t>
            </a:r>
            <a:r>
              <a:rPr b="0" sz="1000">
                <a:solidFill>
                  <a:srgbClr val="64748B"/>
                </a:solidFill>
                <a:latin typeface="Calibri"/>
              </a:rPr>
              <a:t>Excel performance degrades significantly on multi-million row smart meter streams.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Lack of Advanced Statistical Plots: </a:t>
            </a:r>
            <a:r>
              <a:rPr b="0" sz="1000">
                <a:solidFill>
                  <a:srgbClr val="64748B"/>
                </a:solidFill>
                <a:latin typeface="Calibri"/>
              </a:rPr>
              <a:t>Cannot natively generate KDE density plots, regplots, or correlation heatmaps.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Manual Reproducibility Risk: </a:t>
            </a:r>
            <a:r>
              <a:rPr b="0" sz="1000">
                <a:solidFill>
                  <a:srgbClr val="64748B"/>
                </a:solidFill>
                <a:latin typeface="Calibri"/>
              </a:rPr>
              <a:t>Vulnerable to accidental cell formula overwrites and manual copy-paste errors.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15 of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7: PYTHON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Dual-Axis Infrastructure Analysis: Consumption vs 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Advanced Python Matplotlib &amp; Seaborn visualization mapping 20 circles on twin y-axes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621792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ircle_consum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36192"/>
            <a:ext cx="6071616" cy="4434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5943600"/>
            <a:ext cx="6071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16B"/>
                </a:solidFill>
                <a:latin typeface="Calibri"/>
              </a:rPr>
              <a:t>Figure: Energy Consumed (GWh) &amp; Sanctioned Load (MW) by Circle (Matplotlib &amp; Seaborn)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463040"/>
            <a:ext cx="4846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0" y="1463040"/>
            <a:ext cx="4846320" cy="384048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53619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Dual-Axis Engineering Alignment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901952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Proportional Symmetry: </a:t>
            </a:r>
            <a:r>
              <a:rPr b="0" sz="1000">
                <a:solidFill>
                  <a:srgbClr val="64748B"/>
                </a:solidFill>
                <a:latin typeface="Calibri"/>
              </a:rPr>
              <a:t>Consumption (cyan bars, GWh) and Connected Load (purple bars, MW) mirror each other perfectly.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Peak Demand Readiness: </a:t>
            </a:r>
            <a:r>
              <a:rPr b="0" sz="1000">
                <a:solidFill>
                  <a:srgbClr val="64748B"/>
                </a:solidFill>
                <a:latin typeface="Calibri"/>
              </a:rPr>
              <a:t>Validates that grid substations in Medchal, Habsiguda, and Cybercity have sanctioned capacity to meet high consumption.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Load Allocation Equity: </a:t>
            </a:r>
            <a:r>
              <a:rPr b="0" sz="1000">
                <a:solidFill>
                  <a:srgbClr val="64748B"/>
                </a:solidFill>
                <a:latin typeface="Calibri"/>
              </a:rPr>
              <a:t>District circles maintain proportional transformer capacity, avoiding wasteful idle infrastructure.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3931920"/>
            <a:ext cx="4846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0" y="3931920"/>
            <a:ext cx="4846320" cy="384048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0050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Python Implementation Highlights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370832"/>
            <a:ext cx="4480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Subplot Twinx Architecture: </a:t>
            </a:r>
            <a:r>
              <a:rPr b="0" sz="1000">
                <a:solidFill>
                  <a:srgbClr val="64748B"/>
                </a:solidFill>
                <a:latin typeface="Calibri"/>
              </a:rPr>
              <a:t>Created using `ax1.twinx()` to overlay two independent physical units cleanly.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Theme &amp; Styling: </a:t>
            </a:r>
            <a:r>
              <a:rPr b="0" sz="1000">
                <a:solidFill>
                  <a:srgbClr val="64748B"/>
                </a:solidFill>
                <a:latin typeface="Calibri"/>
              </a:rPr>
              <a:t>Styled with custom dark-background aesthetic, Segoe UI typography, and subtle alpha grids.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Automated Export: </a:t>
            </a:r>
            <a:r>
              <a:rPr b="0" sz="1000">
                <a:solidFill>
                  <a:srgbClr val="64748B"/>
                </a:solidFill>
                <a:latin typeface="Calibri"/>
              </a:rPr>
              <a:t>High-DPI 300 vector rendering exported directly to disk for web and reporting pipelines.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16 of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7: PYTHON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Consumption Epicenters &amp; Section Billing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Seaborn barplots isolating the top 20 demand hotspots and circle billing efficiency vs 95%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4864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op20_are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36192"/>
            <a:ext cx="5340096" cy="3520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5029200"/>
            <a:ext cx="5340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16B"/>
                </a:solidFill>
                <a:latin typeface="Calibri"/>
              </a:rPr>
              <a:t>Top 20 High-Demand Areas in TG-SPDCL (Seaborn Barplot)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48640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illing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536192"/>
            <a:ext cx="5340096" cy="3520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91072" y="5029200"/>
            <a:ext cx="53400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16B"/>
                </a:solidFill>
                <a:latin typeface="Calibri"/>
              </a:rPr>
              <a:t>Circle Billing Efficiency (%) vs 95% State Benchmark 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11274552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5486400"/>
            <a:ext cx="11274552" cy="384048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59552"/>
            <a:ext cx="10908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25312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Top Demand Epicenters: </a:t>
            </a:r>
            <a:r>
              <a:rPr b="0" sz="1000">
                <a:solidFill>
                  <a:srgbClr val="64748B"/>
                </a:solidFill>
                <a:latin typeface="Calibri"/>
              </a:rPr>
              <a:t>Hydernagar (2.32M kWh), Moosapet (1.81M), and Vinayaknagar (1.47M) lead consumption; require immediate feeder audits.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Billing Compliance Deficit: </a:t>
            </a:r>
            <a:r>
              <a:rPr b="0" sz="1000">
                <a:solidFill>
                  <a:srgbClr val="64748B"/>
                </a:solidFill>
                <a:latin typeface="Calibri"/>
              </a:rPr>
              <a:t>5 circles lag below the 95% benchmark; Saroornagar and rural zones show significant unbilled gaps requiring mobile meter squads.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17 of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7: PYTHON VISUALIZATIONS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Statistical Distributions (KDE) &amp; Seaborn Heatmap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Evaluating density spread and multi-collinear relationships across all numeric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76072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istributi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36192"/>
            <a:ext cx="5614416" cy="3520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352" y="5029200"/>
            <a:ext cx="5614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16B"/>
                </a:solidFill>
                <a:latin typeface="Calibri"/>
              </a:rPr>
              <a:t>Figure: KDE Density Curves for Household Units &amp; Section Billing Efficiency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463040"/>
            <a:ext cx="5212080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aborn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536192"/>
            <a:ext cx="5065776" cy="3520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65392" y="5029200"/>
            <a:ext cx="50657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316B"/>
                </a:solidFill>
                <a:latin typeface="Calibri"/>
              </a:rPr>
              <a:t>Figure: Seaborn Indicator Correlation Heatmap (Spectral Palette)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11274552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5486400"/>
            <a:ext cx="11274552" cy="384048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59552"/>
            <a:ext cx="10908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Distribution &amp; Heatmap 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25312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Household Consumption Distribution: </a:t>
            </a:r>
            <a:r>
              <a:rPr b="0" sz="1000">
                <a:solidFill>
                  <a:srgbClr val="64748B"/>
                </a:solidFill>
                <a:latin typeface="Calibri"/>
              </a:rPr>
              <a:t>Heavily skewed with median 145 kWh/service; sharp exponential decay above 400 kWh.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•  Billing Rate Concentration: </a:t>
            </a:r>
            <a:r>
              <a:rPr b="0" sz="1000">
                <a:solidFill>
                  <a:srgbClr val="64748B"/>
                </a:solidFill>
                <a:latin typeface="Calibri"/>
              </a:rPr>
              <a:t>Sharp unimodal peak centered at 94.2%, with a concerning left-hand tail of unbilled sections (&lt;85%).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18 of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8: FINAL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Strategic Decision Framework: 4-Pillar Utility Action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Data-backed operational interventions to maximize revenue, grid stability, and consumer 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54864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5486400" cy="384048"/>
          </a:xfrm>
          <a:prstGeom prst="roundRect">
            <a:avLst>
              <a:gd name="adj" fmla="val 4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Pillar 1: Infrastructure Augmentation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0195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791"/>
                </a:solidFill>
                <a:latin typeface="Calibri"/>
              </a:rPr>
              <a:t>Focus: Prioritize Top 15% Areas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21408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•  Focus distribution transformer (DTR) capital upgrades on the 2,452 'Very Large' areas driving 50.5% of total demand.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•  Deploy thermal sensors and DTR capacity doubling in Hydernagar, Moosapet, and Kukatpally.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•  Enforce mandatory load sanctions for luxury villas and high-rise apartment complexes.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54864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384048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361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Pillar 2: Revenue Protection &amp; Audits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0195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Calibri"/>
              </a:rPr>
              <a:t>Focus: Resolve 648k Unbilled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21408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•  Mandate physical field verification for the 247 sections with missing billed services.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•  Investigate the 15 negative-unit areas to distinguish legitimate meter corrections from billing manipulation.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•  Deploy mobile meter-reading validation squads in circles falling below the 95% billing benchmark.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86200"/>
            <a:ext cx="54864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886200"/>
            <a:ext cx="5486400" cy="384048"/>
          </a:xfrm>
          <a:prstGeom prst="roundRect">
            <a:avLst>
              <a:gd name="adj" fmla="val 4000"/>
            </a:avLst>
          </a:prstGeom>
          <a:solidFill>
            <a:srgbClr val="1A3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593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Pillar 3: Smart Grid Modernization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2511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16B"/>
                </a:solidFill>
                <a:latin typeface="Calibri"/>
              </a:rPr>
              <a:t>Focus: Automated Metering (AMI / IoT)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44568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•  Roll out bidirectional IoT smart meters across high-intensity sectors (&gt; 250 kWh/kW).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•  Eliminate manual paper billing errors and eliminate the 1,999 area-name ambiguity issues through GIS tagging.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•  Provide consumers with hourly mobile-app telemetry to incentivize peak-hour energy conservation.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86200"/>
            <a:ext cx="54864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3886200"/>
            <a:ext cx="5486400" cy="38404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593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Pillar 4: Tariff &amp; Demand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2511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Calibri"/>
              </a:rPr>
              <a:t>Focus: Time-of-Day (ToD) Pricing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544568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•  Introduce dynamic Time-of-Day tariffs for domestic connections exceeding 10 kW connected load.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•  Incentivize off-peak EV charging and water pumping to flatten the late-evening domestic peak.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•  Establish automated loss-detection algorithms flagging feeders with high load but abnormally low metered units.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19 of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"/>
            <a:ext cx="2560320" cy="256032"/>
          </a:xfrm>
          <a:prstGeom prst="roundRect">
            <a:avLst>
              <a:gd name="adj" fmla="val 40000"/>
            </a:avLst>
          </a:prstGeom>
          <a:solidFill>
            <a:srgbClr val="007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2468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PART 8: FINAL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"/>
            <a:ext cx="8961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Implementation Roadmap &amp; Measurable 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59536"/>
            <a:ext cx="8961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4A3B8"/>
                </a:solidFill>
                <a:latin typeface="Calibri"/>
              </a:rPr>
              <a:t>Phased execution timeline and financial ROI projections for TG-SPDCL executive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38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  <a:latin typeface="Calibri"/>
              </a:rPr>
              <a:t>TG-SPDCL | DAV Project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Classroom Syllabus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3611880" cy="384048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3619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1: Immediate Sprint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20240"/>
            <a:ext cx="3246120" cy="274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965960"/>
            <a:ext cx="3154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444"/>
                </a:solidFill>
                <a:latin typeface="Calibri"/>
              </a:rPr>
              <a:t>Month 1 (Days 1 - 30)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8600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✔  Audit the 247 zero-billed sections and 15 negative-unit records.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✔  Establish GIS standardized primary keys for all 15,947 areas.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✔  Deploy mobile billing taskforces to circles &lt; 90% billing rate.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46304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1463040"/>
            <a:ext cx="3611880" cy="384048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53619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2: Targeted Deployment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1920240"/>
            <a:ext cx="3246120" cy="274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1965960"/>
            <a:ext cx="3154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  <a:latin typeface="Calibri"/>
              </a:rPr>
              <a:t>Months 2 - 6 (Days 31 - 180)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28600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✔  Upgrade transformers across the 2,452 'Very Large' demand areas.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✔  Install 250,000 smart meters across Top 20 urban epicenters.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✔  Integrate real-time operational dashboard for daily feeder tracking.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6304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8160" y="1463040"/>
            <a:ext cx="3611880" cy="384048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53619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3: Utility Transformation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920240"/>
            <a:ext cx="3246120" cy="2743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965960"/>
            <a:ext cx="3154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9669"/>
                </a:solidFill>
                <a:latin typeface="Calibri"/>
              </a:rPr>
              <a:t>Months 6 - 12 (Year 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286000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✔  Achieve full 97%+ system-wide billing efficiency across all circles.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✔  Launch Time-of-Day (ToD) tariff structures for high-demand users.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>
                <a:solidFill>
                  <a:srgbClr val="0F172A"/>
                </a:solidFill>
                <a:latin typeface="Calibri"/>
              </a:rPr>
              <a:t>✔  Implement predictive ML models for proactive failure prevention.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72000"/>
            <a:ext cx="11274552" cy="1645920"/>
          </a:xfrm>
          <a:prstGeom prst="roundRect">
            <a:avLst>
              <a:gd name="adj" fmla="val 4000"/>
            </a:avLst>
          </a:prstGeom>
          <a:solidFill>
            <a:srgbClr val="0D1B3E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572000"/>
            <a:ext cx="112745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7091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PROJECTED BUSINESS IMPACT &amp; RETURN ON INVESTMENT (ROI)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+4.5% Billing Efficiency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0352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FD8DC"/>
                </a:solidFill>
                <a:latin typeface="Calibri"/>
              </a:rPr>
              <a:t>Unlocks ~₹85-110 Cr annual revenue by converting unbilled connections to active billing.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-35% Transformer Failures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530352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FD8DC"/>
                </a:solidFill>
                <a:latin typeface="Calibri"/>
              </a:rPr>
              <a:t>Targeted DTR load doubling prevents summer overloads in the top 15% consumption corridors.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100% Traceability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30352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FD8DC"/>
                </a:solidFill>
                <a:latin typeface="Calibri"/>
              </a:rPr>
              <a:t>Complete elimination of repeated area name ambiguity via GIS composite key tagging.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Real-Time Grid Telemetry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5303520"/>
            <a:ext cx="2514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FD8DC"/>
                </a:solidFill>
                <a:latin typeface="Calibri"/>
              </a:rPr>
              <a:t>Interactive dashboard enables daily monitoring rather than 30-day delayed manual reporting.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65392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TG-SPDCL Electricity Consumption &amp; Monitoring  |  Data Analytics &amp; Visualization (DAV)  |  July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Slide 20 of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