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4389120" cy="347472"/>
          </a:xfrm>
          <a:prstGeom prst="roundRect">
            <a:avLst/>
          </a:prstGeom>
          <a:solidFill>
            <a:srgbClr val="0F244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ACADEMIC DAV CAPSTONE TELEMETRY REPORT |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Climate &amp; Weather Trend Analytics</a:t>
            </a:r>
          </a:p>
          <a:p>
            <a:pPr>
              <a:spcBef>
                <a:spcPts val="400"/>
              </a:spcBef>
              <a:defRPr sz="1400">
                <a:solidFill>
                  <a:srgbClr val="00B4D8"/>
                </a:solidFill>
                <a:latin typeface="Calibri"/>
              </a:defRPr>
            </a:pPr>
            <a:r>
              <a:t>Decadal Planetary Anomalies, Extreme Event Dynamics &amp; Geospatial Multi-Metro Resilience Modeling (1950–2024)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120640" cy="3977639"/>
          </a:xfrm>
          <a:prstGeom prst="roundRect">
            <a:avLst/>
          </a:prstGeom>
          <a:solidFill>
            <a:srgbClr val="0F1F4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502920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RESEARCH &amp; ANALYTICS SQUAD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  <a:latin typeface="Calibri"/>
              </a:rPr>
              <a:t>• Snehith Rishi </a:t>
            </a:r>
            <a:r>
              <a:rPr sz="900" b="1">
                <a:solidFill>
                  <a:srgbClr val="00B4D8"/>
                </a:solidFill>
                <a:latin typeface="Calibri"/>
              </a:rPr>
              <a:t>[Roll: 2503A52232]
   </a:t>
            </a:r>
            <a:r>
              <a:rPr sz="850">
                <a:solidFill>
                  <a:srgbClr val="CBD5E1"/>
                </a:solidFill>
                <a:latin typeface="Calibri"/>
              </a:rPr>
              <a:t>Role: Lead Data Architect &amp; ETL Pipeline Engineering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  <a:latin typeface="Calibri"/>
              </a:rPr>
              <a:t>• Rohan </a:t>
            </a:r>
            <a:r>
              <a:rPr sz="900" b="1">
                <a:solidFill>
                  <a:srgbClr val="00B4D8"/>
                </a:solidFill>
                <a:latin typeface="Calibri"/>
              </a:rPr>
              <a:t>[Roll: 2503A52224]
   </a:t>
            </a:r>
            <a:r>
              <a:rPr sz="850">
                <a:solidFill>
                  <a:srgbClr val="CBD5E1"/>
                </a:solidFill>
                <a:latin typeface="Calibri"/>
              </a:rPr>
              <a:t>Role: Statistical Modeler &amp; Advanced Python Telemetry Viz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FFFFFF"/>
                </a:solidFill>
                <a:latin typeface="Calibri"/>
              </a:rPr>
              <a:t>• Vinay </a:t>
            </a:r>
            <a:r>
              <a:rPr sz="900" b="1">
                <a:solidFill>
                  <a:srgbClr val="00B4D8"/>
                </a:solidFill>
                <a:latin typeface="Calibri"/>
              </a:rPr>
              <a:t>[Roll: 2503A52216]
   </a:t>
            </a:r>
            <a:r>
              <a:rPr sz="850">
                <a:solidFill>
                  <a:srgbClr val="CBD5E1"/>
                </a:solidFill>
                <a:latin typeface="Calibri"/>
              </a:rPr>
              <a:t>Role: Excel BI Developer &amp; Strategic Enterprise Decisioning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F59E0B"/>
                </a:solidFill>
              </a:rPr>
              <a:t>DATASET AUDIT &amp; SCALE:
</a:t>
            </a:r>
            <a:r>
              <a:rPr sz="819">
                <a:solidFill>
                  <a:srgbClr val="E2E8F0"/>
                </a:solidFill>
              </a:rPr>
              <a:t>• Source: Global Climate Observation Network / Kaggle Time-Series
• Scale: 920 Observations across 3 Interlinked Relational Schemas
• Scope: 75 Yrs Planetary Anomaly | 6 Global Metros | 5 Catastrophe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2633472" cy="1874519"/>
          </a:xfrm>
          <a:prstGeom prst="roundRect">
            <a:avLst/>
          </a:prstGeom>
          <a:solidFill>
            <a:srgbClr val="0F1F4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377440"/>
            <a:ext cx="2542032" cy="457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478024"/>
            <a:ext cx="2304288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0B4D8"/>
                </a:solidFill>
                <a:latin typeface="Calibri"/>
              </a:defRPr>
            </a:pPr>
            <a:r>
              <a:t>420.2 ppm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FFFFFF"/>
                </a:solidFill>
                <a:latin typeface="Calibri"/>
              </a:defRPr>
            </a:pPr>
            <a:r>
              <a:t>PEAK CO₂ CONCENTRATION</a:t>
            </a:r>
          </a:p>
          <a:p>
            <a:pPr>
              <a:defRPr sz="800">
                <a:solidFill>
                  <a:srgbClr val="CBD5E1"/>
                </a:solidFill>
                <a:latin typeface="Calibri"/>
              </a:defRPr>
            </a:pPr>
            <a:r>
              <a:t>+35.4% Atmospheric surge since 1950 baseline (310.4 ppm); primary planetary forcing vector.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2331720"/>
            <a:ext cx="2633472" cy="1874519"/>
          </a:xfrm>
          <a:prstGeom prst="roundRect">
            <a:avLst/>
          </a:prstGeom>
          <a:solidFill>
            <a:srgbClr val="0F1F4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34272" y="2377440"/>
            <a:ext cx="2542032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144" y="2478024"/>
            <a:ext cx="2304288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Calibri"/>
              </a:defRPr>
            </a:pPr>
            <a:r>
              <a:t>+0.164 °C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FFFFFF"/>
                </a:solidFill>
                <a:latin typeface="Calibri"/>
              </a:defRPr>
            </a:pPr>
            <a:r>
              <a:t>PEAK TEMP ANOMALY</a:t>
            </a:r>
          </a:p>
          <a:p>
            <a:pPr>
              <a:defRPr sz="800">
                <a:solidFill>
                  <a:srgbClr val="CBD5E1"/>
                </a:solidFill>
                <a:latin typeface="Calibri"/>
              </a:defRPr>
            </a:pPr>
            <a:r>
              <a:t>Multi-decadal baseline upward shift; 10-year rolling acceleration post-1990.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434839"/>
            <a:ext cx="2633472" cy="1874519"/>
          </a:xfrm>
          <a:prstGeom prst="roundRect">
            <a:avLst/>
          </a:prstGeom>
          <a:solidFill>
            <a:srgbClr val="0F1F4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4480559"/>
            <a:ext cx="2542032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4581143"/>
            <a:ext cx="2304288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Calibri"/>
              </a:defRPr>
            </a:pPr>
            <a:r>
              <a:t>+75.1 mm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FFFFFF"/>
                </a:solidFill>
                <a:latin typeface="Calibri"/>
              </a:defRPr>
            </a:pPr>
            <a:r>
              <a:t>NET SEA-LEVEL RISE</a:t>
            </a:r>
          </a:p>
          <a:p>
            <a:pPr>
              <a:defRPr sz="800">
                <a:solidFill>
                  <a:srgbClr val="CBD5E1"/>
                </a:solidFill>
                <a:latin typeface="Calibri"/>
              </a:defRPr>
            </a:pPr>
            <a:r>
              <a:t>r = 0.9998 near-perfect linear correlation driven by ocean thermal expansion.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4434839"/>
            <a:ext cx="2633472" cy="1874519"/>
          </a:xfrm>
          <a:prstGeom prst="roundRect">
            <a:avLst/>
          </a:prstGeom>
          <a:solidFill>
            <a:srgbClr val="0F1F4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34272" y="4480559"/>
            <a:ext cx="2542032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4581143"/>
            <a:ext cx="2304288" cy="1645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EF4444"/>
                </a:solidFill>
                <a:latin typeface="Calibri"/>
              </a:defRPr>
            </a:pPr>
            <a:r>
              <a:t>572 Events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FFFFFF"/>
                </a:solidFill>
                <a:latin typeface="Calibri"/>
              </a:defRPr>
            </a:pPr>
            <a:r>
              <a:t>WILDFIRE RISK COUNT</a:t>
            </a:r>
          </a:p>
          <a:p>
            <a:pPr>
              <a:defRPr sz="800">
                <a:solidFill>
                  <a:srgbClr val="CBD5E1"/>
                </a:solidFill>
                <a:latin typeface="Calibri"/>
              </a:defRPr>
            </a:pPr>
            <a:r>
              <a:t>Dominates global severe climate occurrences (28.5% share of all recorded extremes).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2881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Climate &amp; Weather Trend Analytics | Academic DAV Project | Snehith Rishi • Rohan • Vinay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65392"/>
            <a:ext cx="34134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A193B"/>
                </a:solidFill>
                <a:latin typeface="Calibri"/>
              </a:defRPr>
            </a:pPr>
            <a:r>
              <a:t>Slide 1 of 7  |  Consulting Telemetry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PILLARS 1 &amp; 2: PROJECT ARCHITECTURE &amp; DATA EXPLORATION</a:t>
            </a:r>
          </a:p>
          <a:p>
            <a:pPr>
              <a:defRPr sz="1050">
                <a:solidFill>
                  <a:srgbClr val="00B4D8"/>
                </a:solidFill>
                <a:latin typeface="Calibri"/>
              </a:defRPr>
            </a:pPr>
            <a:r>
              <a:t>Organizational hierarchy, core problem statement, multi-table schema dictionary, and data quality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283464"/>
            <a:ext cx="3291840" cy="438912"/>
          </a:xfrm>
          <a:prstGeom prst="roundRect">
            <a:avLst/>
          </a:prstGeom>
          <a:solidFill>
            <a:srgbClr val="0F244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PILLARS 1 &amp; 2: FOUNDATIONS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15568"/>
            <a:ext cx="525780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161288"/>
            <a:ext cx="5166360" cy="457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25296"/>
            <a:ext cx="492861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A193B"/>
                </a:solidFill>
                <a:latin typeface="Calibri"/>
              </a:defRPr>
            </a:pPr>
            <a:r>
              <a:t>PILLAR 1: 5-TIER ORGANIZATIONAL &amp; DATA HIERARCHY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99616"/>
            <a:ext cx="4928616" cy="39319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0"/>
          <a:lstStyle/>
          <a:p>
            <a:pPr algn="ctr"/>
            <a:r>
              <a:rPr b="1" sz="819">
                <a:solidFill>
                  <a:srgbClr val="0A193B"/>
                </a:solidFill>
                <a:latin typeface="Calibri"/>
              </a:rPr>
              <a:t>[1] Tier 1: Global Planetary Layer: </a:t>
            </a:r>
            <a:r>
              <a:rPr sz="780">
                <a:solidFill>
                  <a:srgbClr val="0F172A"/>
                </a:solidFill>
                <a:latin typeface="Calibri"/>
              </a:rPr>
              <a:t>Macro greenhouse forcings (Atmospheric CO2 ppm, Solar Radiance, Mean Anomaly).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929384"/>
            <a:ext cx="4928616" cy="39319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0"/>
          <a:lstStyle/>
          <a:p>
            <a:pPr algn="ctr"/>
            <a:r>
              <a:rPr b="1" sz="819">
                <a:solidFill>
                  <a:srgbClr val="0A193B"/>
                </a:solidFill>
                <a:latin typeface="Calibri"/>
              </a:rPr>
              <a:t>[2] Tier 2: Regional Climate Zones: </a:t>
            </a:r>
            <a:r>
              <a:rPr sz="780">
                <a:solidFill>
                  <a:srgbClr val="0F172A"/>
                </a:solidFill>
                <a:latin typeface="Calibri"/>
              </a:rPr>
              <a:t>Cryospheric &amp; Oceanic Basins (Arctic Sea-Ice Extent, Thermal Sea Expansion).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59152"/>
            <a:ext cx="4928616" cy="39319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0"/>
          <a:lstStyle/>
          <a:p>
            <a:pPr algn="ctr"/>
            <a:r>
              <a:rPr b="1" sz="819">
                <a:solidFill>
                  <a:srgbClr val="0A193B"/>
                </a:solidFill>
                <a:latin typeface="Calibri"/>
              </a:rPr>
              <a:t>[3] Tier 3: Metropolitan Geospatial Hubs: </a:t>
            </a:r>
            <a:r>
              <a:rPr sz="780">
                <a:solidFill>
                  <a:srgbClr val="0F172A"/>
                </a:solidFill>
                <a:latin typeface="Calibri"/>
              </a:rPr>
              <a:t>6 Anchor Metros (Chennai, London, Nairobi, New York, Sydney, Tokyo).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788920"/>
            <a:ext cx="4928616" cy="39319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0"/>
          <a:lstStyle/>
          <a:p>
            <a:pPr algn="ctr"/>
            <a:r>
              <a:rPr b="1" sz="819">
                <a:solidFill>
                  <a:srgbClr val="0A193B"/>
                </a:solidFill>
                <a:latin typeface="Calibri"/>
              </a:rPr>
              <a:t>[4] Tier 4: Meteorological Station Grid: </a:t>
            </a:r>
            <a:r>
              <a:rPr sz="780">
                <a:solidFill>
                  <a:srgbClr val="0F172A"/>
                </a:solidFill>
                <a:latin typeface="Calibri"/>
              </a:rPr>
              <a:t>Ground Sensors recording monthly thermal oscillations and rainfall intensity.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218688"/>
            <a:ext cx="4928616" cy="39319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0"/>
          <a:lstStyle/>
          <a:p>
            <a:pPr algn="ctr"/>
            <a:r>
              <a:rPr b="1" sz="819">
                <a:solidFill>
                  <a:srgbClr val="0A193B"/>
                </a:solidFill>
                <a:latin typeface="Calibri"/>
              </a:rPr>
              <a:t>[5] Tier 5: Event Telemetry Logs: </a:t>
            </a:r>
            <a:r>
              <a:rPr sz="780">
                <a:solidFill>
                  <a:srgbClr val="0F172A"/>
                </a:solidFill>
                <a:latin typeface="Calibri"/>
              </a:rPr>
              <a:t>Severe Catastrophic Logs (Wildfires, Heatwaves, Floods, Storms, Droughts).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52578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3840480"/>
            <a:ext cx="516636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922776"/>
            <a:ext cx="4928616" cy="2386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A193B"/>
                </a:solidFill>
                <a:latin typeface="Calibri"/>
              </a:defRPr>
            </a:pPr>
            <a:r>
              <a:t>OPERATIONAL PROBLEM STATEMENT &amp; ANALYTICAL OBJECTIVES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Macro Ecological Crisis: </a:t>
            </a:r>
            <a:r>
              <a:rPr sz="850">
                <a:solidFill>
                  <a:srgbClr val="0F172A"/>
                </a:solidFill>
                <a:latin typeface="Calibri"/>
              </a:rPr>
              <a:t>Accelerating atmospheric greenhouse accumulation drives non-linear sea-level rise and polar ice contraction, triggering cascading economic disruption.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Municipal Infrastructure Threat: </a:t>
            </a:r>
            <a:r>
              <a:rPr sz="850">
                <a:solidFill>
                  <a:srgbClr val="0F172A"/>
                </a:solidFill>
                <a:latin typeface="Calibri"/>
              </a:rPr>
              <a:t>Metropolitan centers face extreme weather bifurcation—tropical metros suffer severe heat-stress while temperate cities experience intense flash floods.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Supply Chain &amp; Logistics Volatility: </a:t>
            </a:r>
            <a:r>
              <a:rPr sz="850">
                <a:solidFill>
                  <a:srgbClr val="0F172A"/>
                </a:solidFill>
                <a:latin typeface="Calibri"/>
              </a:rPr>
              <a:t>Extreme events (Wildfires, Floods) cause multi-week logistical gridlocks, coastal port inundations, and escalating insurance risk premiums.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Core Analytical Objective 1: </a:t>
            </a:r>
            <a:r>
              <a:rPr sz="850">
                <a:solidFill>
                  <a:srgbClr val="0F172A"/>
                </a:solidFill>
                <a:latin typeface="Calibri"/>
              </a:rPr>
              <a:t>Empirically model multi-decadal planetary anomaly trends and decouple seasonal oscillations from structural warming.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Core Analytical Objective 2: </a:t>
            </a:r>
            <a:r>
              <a:rPr sz="850">
                <a:solidFill>
                  <a:srgbClr val="0F172A"/>
                </a:solidFill>
                <a:latin typeface="Calibri"/>
              </a:rPr>
              <a:t>Quantify extreme hazard concentration using Pareto dynamics to optimize municipal emergency capital allocation.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Core Analytical Objective 3: </a:t>
            </a:r>
            <a:r>
              <a:rPr sz="850">
                <a:solidFill>
                  <a:srgbClr val="0F172A"/>
                </a:solidFill>
                <a:latin typeface="Calibri"/>
              </a:rPr>
              <a:t>Synthesize business self-service BI in Excel with high-dimensional predictive statistical modeling in Python.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115568"/>
            <a:ext cx="56235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1161288"/>
            <a:ext cx="5532120" cy="45720"/>
          </a:xfrm>
          <a:prstGeom prst="round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225296"/>
            <a:ext cx="525780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A193B"/>
                </a:solidFill>
                <a:latin typeface="Calibri"/>
              </a:defRPr>
            </a:pPr>
            <a:r>
              <a:t>PILLAR 2: MULTI-TABLE RELATIONAL DATA DICTIONARY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72200" y="1536192"/>
          <a:ext cx="544067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51560"/>
                <a:gridCol w="868680"/>
                <a:gridCol w="1874519"/>
              </a:tblGrid>
              <a:tr h="279400"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 / FEATURE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TABLE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ANALYTICAL FUNCTION &amp; SCALE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27940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Year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 &amp;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Discrete 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Chronological temporal indexing &amp; decadal longitudinal tracking.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CO2_ppm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Global_Annual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Float64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Primary greenhouse forcing metric (Range: 310.35 to 420.19 ppm).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940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Global_Temp_Anomaly_C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Global_Annual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Planetary deviation from historical baseline (-0.225°C to +0.164°C).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Sea_Level_Anomaly_mm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Global_Annual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Float64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Thermal ocean expansion &amp; glacial melt indicator (-18.8 to +75.1 mm).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940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Arctic_Ice_Anomaly_M_km2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Global_Annual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Cryospheric extent anomaly capturing polar amplification retreat.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City &amp; Avg_Temp_C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City_Monthly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String / Float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Microclimate thermal monitoring across 6 continental anchor metros.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940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Precipitation_mm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City_Monthly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Hydrological volatility &amp; urban flash flood susceptibility index.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Event_Type &amp; Count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Extreme_Events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Category / 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Severe catastrophe logging across 5 major global risk classifications.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989320" y="4315968"/>
            <a:ext cx="562356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0" y="4361688"/>
            <a:ext cx="5532120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4443984"/>
            <a:ext cx="5294376" cy="1865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A193B"/>
                </a:solidFill>
                <a:latin typeface="Calibri"/>
              </a:defRPr>
            </a:pPr>
            <a:r>
              <a:t>DATA QUALITY ASSESSMENT &amp; EMPIRICAL AUDIT FINDINGS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Completeness Audit: </a:t>
            </a:r>
            <a:r>
              <a:rPr sz="850">
                <a:solidFill>
                  <a:srgbClr val="0F172A"/>
                </a:solidFill>
                <a:latin typeface="Calibri"/>
              </a:rPr>
              <a:t>100.0% zero-null integrity confirmed across all 920 records in all three primary relational tables (Global_Annual: 75, City_Monthly: 720, Extreme_Events: 125).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Duplicate &amp; Integrity Check: </a:t>
            </a:r>
            <a:r>
              <a:rPr sz="850">
                <a:solidFill>
                  <a:srgbClr val="0F172A"/>
                </a:solidFill>
                <a:latin typeface="Calibri"/>
              </a:rPr>
              <a:t>Zero duplicate keys found. Referential year-month consistency validated between planetary and metropolitan telemetry logs.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Data Type Standardization: </a:t>
            </a:r>
            <a:r>
              <a:rPr sz="850">
                <a:solidFill>
                  <a:srgbClr val="0F172A"/>
                </a:solidFill>
                <a:latin typeface="Calibri"/>
              </a:rPr>
              <a:t>Numerical measurements enforced as IEEE float64; temporal fields cast as discrete integer keys; city and hazard names standardized.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Sample Constraints &amp; Caveats: </a:t>
            </a:r>
            <a:r>
              <a:rPr sz="850">
                <a:solidFill>
                  <a:srgbClr val="0F172A"/>
                </a:solidFill>
                <a:latin typeface="Calibri"/>
              </a:rPr>
              <a:t>Dataset represents synthetically modeled climate dynamics with calibrated Gaussian noise; covers non-identical temporal spans (Global: 75 yrs, City: 10 yrs, Events: 25 yrs).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2881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Climate &amp; Weather Trend Analytics | Academic DAV Project | Snehith Rishi • Rohan • Vinay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565392"/>
            <a:ext cx="34134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A193B"/>
                </a:solidFill>
                <a:latin typeface="Calibri"/>
              </a:defRPr>
            </a:pPr>
            <a:r>
              <a:t>Slide 2 of 7  |  Consulting Telemetry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PILLAR 3: DESCRIPTIVE STATISTICS &amp; PARETO DISPARITY ANALYSIS</a:t>
            </a:r>
          </a:p>
          <a:p>
            <a:pPr>
              <a:defRPr sz="1050">
                <a:solidFill>
                  <a:srgbClr val="00B4D8"/>
                </a:solidFill>
                <a:latin typeface="Calibri"/>
              </a:defRPr>
            </a:pPr>
            <a:r>
              <a:t>Five-number statistical telemetry, distributional skewness, and extreme catastrophe concentration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283464"/>
            <a:ext cx="3291840" cy="438912"/>
          </a:xfrm>
          <a:prstGeom prst="roundRect">
            <a:avLst/>
          </a:prstGeom>
          <a:solidFill>
            <a:srgbClr val="0F244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3: STATISTICAL DISPARITY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15568"/>
            <a:ext cx="11094415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161288"/>
            <a:ext cx="11002975" cy="45720"/>
          </a:xfrm>
          <a:prstGeom prst="round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6523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A193B"/>
                </a:solidFill>
                <a:latin typeface="Calibri"/>
              </a:defRPr>
            </a:pPr>
            <a:r>
              <a:t>PILLAR 3: FIVE-NUMBER PARAMETRIC TELEMETRY &amp; DISTRIBUTION SKEWNESS SUMMARY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" y="1499616"/>
          <a:ext cx="1109167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"/>
                <a:gridCol w="868680"/>
                <a:gridCol w="868680"/>
                <a:gridCol w="731520"/>
                <a:gridCol w="777240"/>
                <a:gridCol w="868680"/>
                <a:gridCol w="777240"/>
                <a:gridCol w="777240"/>
                <a:gridCol w="2999232"/>
              </a:tblGrid>
              <a:tr h="284770"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/ DIMENSION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(Μ)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 DEV (Σ)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Q1 (25%)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MEDIAN (Q2)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Q3 (75%)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DISTRIBUTION &amp; SKEWNESS VECTOR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28477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Global Temp Anomaly (°C)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-0.014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0.074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-0.225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-0.076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-0.009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+0.034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+0.164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Right-skewed (+0.46); accelerating post-1990 thermal climb.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77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Atmospheric CO₂ (ppm)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354.19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32.86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310.35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325.20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350.55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379.83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420.19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Positive skew (+0.41); monotonic convex exponential trajectory.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477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Sea-Level Anomaly (mm)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+27.27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28.05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-18.80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+3.50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+25.80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+51.35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+75.10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Symmetrical (Mean ≈ Median); near-perfect linearity with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77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Arctic Ice Extent (M km²)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-0.364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-1.210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-0.835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-0.310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+0.005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+0.540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Negative skew (-0.38); heavy left tail reflecting polar retreat.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477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Metro Avg Temp (°C)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17.59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6.24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-1.20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12.80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17.90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22.40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34.00 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Bimodal distribution; tropical (Chennai) vs temperate (London).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772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Metro Precipitation (mm)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90.96 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37.15 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36.80 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61.20 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84.50 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114.60 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207.40 mm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Right-skewed (+0.68); acute monsoon rainfall spikes in Tokyo.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739896"/>
            <a:ext cx="53949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785616"/>
            <a:ext cx="530352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49624"/>
            <a:ext cx="5065776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A193B"/>
                </a:solidFill>
                <a:latin typeface="Calibri"/>
              </a:defRPr>
            </a:pPr>
            <a:r>
              <a:t>THE PARETO PRINCIPLE (80/20 DYNAMICS) IN EXTREME HAZARDS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Total Planetary Catastrophe Baseline: </a:t>
            </a:r>
            <a:r>
              <a:rPr sz="819">
                <a:solidFill>
                  <a:srgbClr val="0F172A"/>
                </a:solidFill>
                <a:latin typeface="Calibri"/>
              </a:rPr>
              <a:t>2,004 cumulative extreme hazard events logged across 25 observation years (2000–2024).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The 51.7% Tipping Point: </a:t>
            </a:r>
            <a:r>
              <a:rPr sz="819">
                <a:solidFill>
                  <a:srgbClr val="0F172A"/>
                </a:solidFill>
                <a:latin typeface="Calibri"/>
              </a:rPr>
              <a:t>Top 2 event categories alone account for 1,037 events (51.7%): Wildfire Risk Days (572 events, 28.5%) and Heatwaves (465 events, 23.2%).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The 73.9% Severe Disruption Core: </a:t>
            </a:r>
            <a:r>
              <a:rPr sz="819">
                <a:solidFill>
                  <a:srgbClr val="0F172A"/>
                </a:solidFill>
                <a:latin typeface="Calibri"/>
              </a:rPr>
              <a:t>Expanding to the top 3 categories by including Heavy Rainfall / Floods (443 events, 22.1%) captures nearly three-quarters (73.9%) of all global catastrophe instances.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The Long Tail: </a:t>
            </a:r>
            <a:r>
              <a:rPr sz="819">
                <a:solidFill>
                  <a:srgbClr val="0F172A"/>
                </a:solidFill>
                <a:latin typeface="Calibri"/>
              </a:rPr>
              <a:t>Tropical Storms (276, 13.8%) and Droughts (248, 12.4%) represent the remaining 26.1% of global volume.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Strategic Resource Implication: </a:t>
            </a:r>
            <a:r>
              <a:rPr sz="819">
                <a:solidFill>
                  <a:srgbClr val="0F172A"/>
                </a:solidFill>
                <a:latin typeface="Calibri"/>
              </a:rPr>
              <a:t>Capital expenditures must not be distributed equally; 75% of early-warning radar arrays and disaster reserve capital should be targeted exclusively at Wildfire and Flood defenses.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739896"/>
            <a:ext cx="555955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3785616"/>
            <a:ext cx="5468112" cy="457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3849624"/>
            <a:ext cx="5230368" cy="2478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A193B"/>
                </a:solidFill>
                <a:latin typeface="Calibri"/>
              </a:defRPr>
            </a:pPr>
            <a:r>
              <a:t>GEOGRAPHIC RANKINGS &amp; METROPOLITAN CLIMATE DISPARITIES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A193B"/>
                </a:solidFill>
                <a:latin typeface="Calibri"/>
              </a:rPr>
              <a:t>• 1. Chennai, India (Thermal Extreme): </a:t>
            </a:r>
            <a:r>
              <a:rPr sz="819">
                <a:solidFill>
                  <a:srgbClr val="0F172A"/>
                </a:solidFill>
                <a:latin typeface="Calibri"/>
              </a:rPr>
              <a:t>Highest average temperature at 28.55 °C (Peak: 34.0 °C). Extreme wet-bulb heat vulnerability; chronic labor productivity suppression.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A193B"/>
                </a:solidFill>
                <a:latin typeface="Calibri"/>
              </a:rPr>
              <a:t>• 2. Tokyo, Japan (Precipitation Peak): </a:t>
            </a:r>
            <a:r>
              <a:rPr sz="819">
                <a:solidFill>
                  <a:srgbClr val="0F172A"/>
                </a:solidFill>
                <a:latin typeface="Calibri"/>
              </a:rPr>
              <a:t>Highest average precipitation at 141.91 mm/mo (Peak: 207.4 mm). Demands massive subterranean storm surge tunnels for typhoon drainage.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3. New York, USA (Thermal Volatility): </a:t>
            </a:r>
            <a:r>
              <a:rPr sz="819">
                <a:solidFill>
                  <a:srgbClr val="0F172A"/>
                </a:solidFill>
                <a:latin typeface="Calibri"/>
              </a:rPr>
              <a:t>Broadest seasonal temperature delta: -1.2 °C (Jan) to 25.8 °C (Jul) — a 27.0 °C amplitude taxing electrical heating and cooling grids.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4. London, UK (Temperate Baseline): </a:t>
            </a:r>
            <a:r>
              <a:rPr sz="819">
                <a:solidFill>
                  <a:srgbClr val="0F172A"/>
                </a:solidFill>
                <a:latin typeface="Calibri"/>
              </a:rPr>
              <a:t>Lowest mean temperature at 11.11 °C and lowest rainfall at 59.22 mm/mo. Stable maritime baseline with low intra-year variance.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5. Sydney &amp; Nairobi (Southern / Equatorial): </a:t>
            </a:r>
            <a:r>
              <a:rPr sz="819">
                <a:solidFill>
                  <a:srgbClr val="0F172A"/>
                </a:solidFill>
                <a:latin typeface="Calibri"/>
              </a:rPr>
              <a:t>Sydney: 18.08 °C, 77.37 mm rain; Nairobi: 19.10 °C, 71.22 mm rain. High climatic stability but vulnerable to sudden drought shifts.</a:t>
            </a:r>
          </a:p>
          <a:p>
            <a:pPr>
              <a:spcAft>
                <a:spcPts val="300"/>
              </a:spcAft>
            </a:pPr>
            <a:r>
              <a:rPr b="1" sz="819">
                <a:solidFill>
                  <a:srgbClr val="0F172A"/>
                </a:solidFill>
                <a:latin typeface="Calibri"/>
              </a:rPr>
              <a:t>• Executive Disparity Takeaway: </a:t>
            </a:r>
            <a:r>
              <a:rPr sz="819">
                <a:solidFill>
                  <a:srgbClr val="0F172A"/>
                </a:solidFill>
                <a:latin typeface="Calibri"/>
              </a:rPr>
              <a:t>A 2.57x baseline thermal disparity between tropical and temperate metros dictates localized rather than centralized municipal adaptation protocols.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2881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Climate &amp; Weather Trend Analytics | Academic DAV Project | Snehith Rishi • Rohan • Vinay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565392"/>
            <a:ext cx="34134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A193B"/>
                </a:solidFill>
                <a:latin typeface="Calibri"/>
              </a:defRPr>
            </a:pPr>
            <a:r>
              <a:t>Slide 3 of 7  |  Consulting Telemetry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PILLARS 4 &amp; 5: DATA WRANGLING PIPELINE &amp; VARIABLE CORRELATIONS</a:t>
            </a:r>
          </a:p>
          <a:p>
            <a:pPr>
              <a:defRPr sz="1050">
                <a:solidFill>
                  <a:srgbClr val="00B4D8"/>
                </a:solidFill>
                <a:latin typeface="Calibri"/>
              </a:defRPr>
            </a:pPr>
            <a:r>
              <a:t>Six-stage ETL workflow, mathematical feature engineering, and empirical correlation mechanics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283464"/>
            <a:ext cx="3291840" cy="438912"/>
          </a:xfrm>
          <a:prstGeom prst="roundRect">
            <a:avLst/>
          </a:prstGeom>
          <a:solidFill>
            <a:srgbClr val="0F244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PILLARS 4 &amp; 5: WRANGLING &amp; CONNECTIONS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15568"/>
            <a:ext cx="5303520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161288"/>
            <a:ext cx="5212080" cy="457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25296"/>
            <a:ext cx="497433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0A193B"/>
                </a:solidFill>
                <a:latin typeface="Calibri"/>
              </a:defRPr>
            </a:pPr>
            <a:r>
              <a:t>PILLAR 4: 6-STAGE REPRODUCIBLE ETL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99616"/>
            <a:ext cx="4974336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0"/>
          <a:lstStyle/>
          <a:p>
            <a:pPr algn="ctr"/>
            <a:r>
              <a:rPr b="1" sz="800">
                <a:solidFill>
                  <a:srgbClr val="0A193B"/>
                </a:solidFill>
                <a:latin typeface="Calibri"/>
              </a:rPr>
              <a:t>1. Ingestion: </a:t>
            </a:r>
            <a:r>
              <a:rPr sz="760">
                <a:solidFill>
                  <a:srgbClr val="0F172A"/>
                </a:solidFill>
                <a:latin typeface="Calibri"/>
              </a:rPr>
              <a:t>Automated multi-sheet parsing of workbook via openpyxl &amp; pandas into relational staging frames.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51660"/>
            <a:ext cx="4974336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0"/>
          <a:lstStyle/>
          <a:p>
            <a:pPr algn="ctr"/>
            <a:r>
              <a:rPr b="1" sz="800">
                <a:solidFill>
                  <a:srgbClr val="0A193B"/>
                </a:solidFill>
                <a:latin typeface="Calibri"/>
              </a:rPr>
              <a:t>2. Null Audit: </a:t>
            </a:r>
            <a:r>
              <a:rPr sz="760">
                <a:solidFill>
                  <a:srgbClr val="0F172A"/>
                </a:solidFill>
                <a:latin typeface="Calibri"/>
              </a:rPr>
              <a:t>Zero-null assertion gates; automated validation ensuring 100% record completeness across 920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03704"/>
            <a:ext cx="4974336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0"/>
          <a:lstStyle/>
          <a:p>
            <a:pPr algn="ctr"/>
            <a:r>
              <a:rPr b="1" sz="800">
                <a:solidFill>
                  <a:srgbClr val="0A193B"/>
                </a:solidFill>
                <a:latin typeface="Calibri"/>
              </a:rPr>
              <a:t>3. Anomaly Clamping: </a:t>
            </a:r>
            <a:r>
              <a:rPr sz="760">
                <a:solidFill>
                  <a:srgbClr val="0F172A"/>
                </a:solidFill>
                <a:latin typeface="Calibri"/>
              </a:rPr>
              <a:t>Winsorizing statistical outliers; validating physical physics bounds (CO2 &gt; 0, Temp within ±50°C).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555748"/>
            <a:ext cx="4974336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0"/>
          <a:lstStyle/>
          <a:p>
            <a:pPr algn="ctr"/>
            <a:r>
              <a:rPr b="1" sz="800">
                <a:solidFill>
                  <a:srgbClr val="0A193B"/>
                </a:solidFill>
                <a:latin typeface="Calibri"/>
              </a:rPr>
              <a:t>4. Cleansing &amp; Trim: </a:t>
            </a:r>
            <a:r>
              <a:rPr sz="760">
                <a:solidFill>
                  <a:srgbClr val="0F172A"/>
                </a:solidFill>
                <a:latin typeface="Calibri"/>
              </a:rPr>
              <a:t>Stripping whitespace, normalizing city naming strings, standardizing datetime formatting.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907792"/>
            <a:ext cx="4974336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0"/>
          <a:lstStyle/>
          <a:p>
            <a:pPr algn="ctr"/>
            <a:r>
              <a:rPr b="1" sz="800">
                <a:solidFill>
                  <a:srgbClr val="0A193B"/>
                </a:solidFill>
                <a:latin typeface="Calibri"/>
              </a:rPr>
              <a:t>5. Type Casting: </a:t>
            </a:r>
            <a:r>
              <a:rPr sz="760">
                <a:solidFill>
                  <a:srgbClr val="0F172A"/>
                </a:solidFill>
                <a:latin typeface="Calibri"/>
              </a:rPr>
              <a:t>Enforcing discrete integer keys on Year/Month; casting telemetry measurements to IEEE float64.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259836"/>
            <a:ext cx="4974336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0"/>
          <a:lstStyle/>
          <a:p>
            <a:pPr algn="ctr"/>
            <a:r>
              <a:rPr b="1" sz="800">
                <a:solidFill>
                  <a:srgbClr val="0A193B"/>
                </a:solidFill>
                <a:latin typeface="Calibri"/>
              </a:rPr>
              <a:t>6. Schema Validation: </a:t>
            </a:r>
            <a:r>
              <a:rPr sz="760">
                <a:solidFill>
                  <a:srgbClr val="0F172A"/>
                </a:solidFill>
                <a:latin typeface="Calibri"/>
              </a:rPr>
              <a:t>Automated relational checks verifying foreign-key consistency between Annual, City, and Event 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53035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3840480"/>
            <a:ext cx="521208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922776"/>
            <a:ext cx="4974336" cy="2386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A193B"/>
                </a:solidFill>
                <a:latin typeface="Calibri"/>
              </a:defRPr>
            </a:pPr>
            <a:r>
              <a:t>4 FEATURE-ENGINEERED MATHEMATICAL INDICATORS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Decadal Warming Velocity (ΔT₁₀): </a:t>
            </a:r>
            <a:r>
              <a:rPr sz="850">
                <a:solidFill>
                  <a:srgbClr val="0F172A"/>
                </a:solidFill>
                <a:latin typeface="Calibri"/>
              </a:rPr>
              <a:t>Formula: (Temp_t - Temp_{t-10}) / 10. Quantifies whether warming rate is accelerating over historical baseline.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Hydrological Volatility Index (HVI): </a:t>
            </a:r>
            <a:r>
              <a:rPr sz="850">
                <a:solidFill>
                  <a:srgbClr val="0F172A"/>
                </a:solidFill>
                <a:latin typeface="Calibri"/>
              </a:rPr>
              <a:t>Formula: (Precip_m - μ_city) / σ_city. Standardized z-score identifying localized extreme precipitation anomalies.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Polar Shrinkage Ratio (PSR): </a:t>
            </a:r>
            <a:r>
              <a:rPr sz="850">
                <a:solidFill>
                  <a:srgbClr val="0F172A"/>
                </a:solidFill>
                <a:latin typeface="Calibri"/>
              </a:rPr>
              <a:t>Formula: (|Arctic_Ice_Anomaly_t| / Baseline_Mean_Ice) × 100%. Relative percentage loss of reflective cryospheric cover.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Extreme Hazard Risk Index (EHRI): </a:t>
            </a:r>
            <a:r>
              <a:rPr sz="850">
                <a:solidFill>
                  <a:srgbClr val="0F172A"/>
                </a:solidFill>
                <a:latin typeface="Calibri"/>
              </a:rPr>
              <a:t>Formula: Σ (w_i × Count_i) where w_wildfire = 1.3, w_heat = 1.2, w_flood = 1.2, w_storm = 1.0, w_drought = 1.0.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Feature Utility in Modeling: </a:t>
            </a:r>
            <a:r>
              <a:rPr sz="850">
                <a:solidFill>
                  <a:srgbClr val="0F172A"/>
                </a:solidFill>
                <a:latin typeface="Calibri"/>
              </a:rPr>
              <a:t>These engineered indicators serve as primary predictive features in downstream linear regressions and risk forecasting.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115568"/>
            <a:ext cx="557784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18872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93B"/>
                </a:solidFill>
                <a:latin typeface="Calibri"/>
              </a:defRPr>
            </a:pPr>
            <a:r>
              <a:t>PILLAR 5: EMPIRICAL LINEAR REGRESSION (CO₂ vs SEA-LEVEL)</a:t>
            </a:r>
          </a:p>
        </p:txBody>
      </p:sp>
      <p:pic>
        <p:nvPicPr>
          <p:cNvPr id="21" name="Picture 20" descr="temp_co2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81328"/>
            <a:ext cx="5394960" cy="253288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035040" y="4224528"/>
            <a:ext cx="557784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0760" y="4270248"/>
            <a:ext cx="5486400" cy="45720"/>
          </a:xfrm>
          <a:prstGeom prst="round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4315968"/>
            <a:ext cx="52486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A193B"/>
                </a:solidFill>
                <a:latin typeface="Calibri"/>
              </a:defRPr>
            </a:pPr>
            <a:r>
              <a:t>PEARSON CORRELATION MATRIX &amp; OPERATIONAL SIGNIFICANCE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99632" y="4608576"/>
          <a:ext cx="525779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77240"/>
                <a:gridCol w="960120"/>
                <a:gridCol w="1874519"/>
              </a:tblGrid>
              <a:tr h="274320"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 PAIR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PEARSON R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COUPLING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7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PHYSICAL &amp; OPERATIONAL SIGNIFICANCE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27432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CO₂ ppm vs Sea-Level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Near-Perfect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Ocean thermal expansion and glacier melt directly driven by CO₂.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CO₂ ppm vs Arctic 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-0.888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Strong Inverse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Polar amplification: retreat of reflective ice accelerates planetary heating.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Year vs CO₂ ppm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Monotonic 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Continuous, non-abating industrial accumulation over 75 years.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Year vs Sea-Level Rise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+0.9998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Near-Linear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Ocean volume response exhibits zero decadal latency.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Temp Anomaly vs Sea-Level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+0.323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Moderate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2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Decadal cyclical oscillations overlaid upon permanent upward trend.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548640" y="652881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Climate &amp; Weather Trend Analytics | Academic DAV Project | Snehith Rishi • Rohan • Vinay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565392"/>
            <a:ext cx="34134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A193B"/>
                </a:solidFill>
                <a:latin typeface="Calibri"/>
              </a:defRPr>
            </a:pPr>
            <a:r>
              <a:t>Slide 4 of 7  |  Consulting Telemetry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PILLAR 6: DESCRIPTIVE BUSINESS VISUALIZATION VIA MICROSOFT EXCEL</a:t>
            </a:r>
          </a:p>
          <a:p>
            <a:pPr>
              <a:defRPr sz="1050">
                <a:solidFill>
                  <a:srgbClr val="00B4D8"/>
                </a:solidFill>
                <a:latin typeface="Calibri"/>
              </a:defRPr>
            </a:pPr>
            <a:r>
              <a:t>Operational dashboarding, pivot architecture, slicers, and comparative tool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283464"/>
            <a:ext cx="3291840" cy="438912"/>
          </a:xfrm>
          <a:prstGeom prst="roundRect">
            <a:avLst/>
          </a:prstGeom>
          <a:solidFill>
            <a:srgbClr val="0F244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6: EXCEL BUSINESS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15568"/>
            <a:ext cx="53035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93B"/>
                </a:solidFill>
                <a:latin typeface="Calibri"/>
              </a:defRPr>
            </a:pPr>
            <a:r>
              <a:t>EXCEL BI DASHBOARD: CITY CLIMATES &amp; EXTREME EVENT DONUT</a:t>
            </a:r>
          </a:p>
        </p:txBody>
      </p:sp>
      <p:pic>
        <p:nvPicPr>
          <p:cNvPr id="9" name="Picture 8" descr="excel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81328"/>
            <a:ext cx="5120640" cy="353872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5230367"/>
            <a:ext cx="53035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5276087"/>
            <a:ext cx="521208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340095"/>
            <a:ext cx="4974336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A193B"/>
                </a:solidFill>
                <a:latin typeface="Calibri"/>
              </a:defRPr>
            </a:pPr>
            <a:r>
              <a:t>EXCEL EXECUTIVE UTILITY &amp; ADOPTION DRIVERS</a:t>
            </a:r>
          </a:p>
          <a:p>
            <a:pPr>
              <a:spcBef>
                <a:spcPts val="300"/>
              </a:spcBef>
              <a:defRPr sz="800">
                <a:solidFill>
                  <a:srgbClr val="0F172A"/>
                </a:solidFill>
                <a:latin typeface="Calibri"/>
              </a:defRPr>
            </a:pPr>
            <a:r>
              <a:t>• Instant Self-Service BI: Enables non-technical managers to slice event frequencies and inspect regional precipitation without coding.</a:t>
            </a:r>
            <a:br/>
            <a:r>
              <a:t>• Frictionless Corporate Reporting: Universal corporate portability across executive boardrooms, municipal teams, and financial audits.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115568"/>
            <a:ext cx="55778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1161288"/>
            <a:ext cx="5486400" cy="457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243584"/>
            <a:ext cx="5248656" cy="2203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A193B"/>
                </a:solidFill>
                <a:latin typeface="Calibri"/>
              </a:defRPr>
            </a:pPr>
            <a:r>
              <a:t>EXCEL PIVOT TABLE &amp; SLICER ARCHITECTURAL DESIGN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Hierarchical Multi-Tier Dimensions: </a:t>
            </a:r>
            <a:r>
              <a:rPr sz="850">
                <a:solidFill>
                  <a:srgbClr val="0F172A"/>
                </a:solidFill>
                <a:latin typeface="Calibri"/>
              </a:rPr>
              <a:t>Configured Pivot hierarchies: City -&gt; Year -&gt; Quarter -&gt; Month, enabling instant drill-down from annual macro trends into seasonal monthly anomaly peaks.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Dynamic Interactive Slicers: </a:t>
            </a:r>
            <a:r>
              <a:rPr sz="850">
                <a:solidFill>
                  <a:srgbClr val="0F172A"/>
                </a:solidFill>
                <a:latin typeface="Calibri"/>
              </a:rPr>
              <a:t>Dedicated visual slicers for 'Event_Type' and 'City' allow instant interactive filtering of disaster counts without breaking sheet formulas.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Conditional Formatting Rules: </a:t>
            </a:r>
            <a:r>
              <a:rPr sz="850">
                <a:solidFill>
                  <a:srgbClr val="0F172A"/>
                </a:solidFill>
                <a:latin typeface="Calibri"/>
              </a:rPr>
              <a:t>Color-scale gradients applied to precipitation (&gt;120 mm highlighted in Alert Red) and temperature anomalies (&gt;+0.10 °C highlighted in Warm Amber).</a:t>
            </a:r>
          </a:p>
          <a:p>
            <a:pPr>
              <a:spcAft>
                <a:spcPts val="350"/>
              </a:spcAft>
            </a:pPr>
            <a:r>
              <a:rPr b="1" sz="850">
                <a:solidFill>
                  <a:srgbClr val="0F172A"/>
                </a:solidFill>
                <a:latin typeface="Calibri"/>
              </a:rPr>
              <a:t>• Calculated Value Fields: </a:t>
            </a:r>
            <a:r>
              <a:rPr sz="850">
                <a:solidFill>
                  <a:srgbClr val="0F172A"/>
                </a:solidFill>
                <a:latin typeface="Calibri"/>
              </a:rPr>
              <a:t>Custom DAX/Excel measures computing percentage-of-total event volume and rolling 12-month precipitation averages.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675888"/>
            <a:ext cx="5577840" cy="2724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3721608"/>
            <a:ext cx="5486400" cy="45720"/>
          </a:xfrm>
          <a:prstGeom prst="round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3767328"/>
            <a:ext cx="52486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A193B"/>
                </a:solidFill>
                <a:latin typeface="Calibri"/>
              </a:defRPr>
            </a:pPr>
            <a:r>
              <a:t>COMPARATIVE MATRIX: EXCEL BUSINESS UTILITY VS PYTHON BOUNDARIES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99632" y="4059936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828800"/>
              </a:tblGrid>
              <a:tr h="365760"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 DIMENSION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MICROSOFT EXCEL (PILLAR 6)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>
                        <a:defRPr sz="7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PYTHON ANALYTICS (PILLAR 7)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36576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Dataset Scale &amp;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Capped at 1,048,576 rows; severe latency and freezes when handling &gt;250k rows.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Scales to 100M+ rows with Polars / PyArrow; distributed in-memory computing.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Statistical Modeling Depth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Basic descriptive stats, linear trendlines, and rudimentary histograms.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Non-linear regression, KDE distributions, Monte Carlo simulations, PCA.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Workflow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Manual click-and-drag workflows; high vulnerability to human copy-paste errors.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100% headless automated ETL scripts, Git version control, CI/CD integration.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Visual Customization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Constrained to pre-set corporate chart layouts and static palette selections.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Pixel-perfect multi-axis layouts, dual-y telemetry, seaborn heatmaps, interactive charts.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Auditing &amp; 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Formulas vulnerable to accidental cell overwrite; difficult logic tracing.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>
                        <a:defRPr sz="7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Transparent, self-documenting code with automated unit tests and assertions.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48640" y="652881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Climate &amp; Weather Trend Analytics | Academic DAV Project | Snehith Rishi • Rohan • Vinay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565392"/>
            <a:ext cx="34134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A193B"/>
                </a:solidFill>
                <a:latin typeface="Calibri"/>
              </a:defRPr>
            </a:pPr>
            <a:r>
              <a:t>Slide 5 of 7  |  Consulting Telemetry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PILLAR 7: ADVANCED VISUALIZATION VIA PYTHON (MATPLOTLIB &amp; SEABORN)</a:t>
            </a:r>
          </a:p>
          <a:p>
            <a:pPr>
              <a:defRPr sz="1050">
                <a:solidFill>
                  <a:srgbClr val="00B4D8"/>
                </a:solidFill>
                <a:latin typeface="Calibri"/>
              </a:defRPr>
            </a:pPr>
            <a:r>
              <a:t>Empirical 4-panel visual powerhouse: dual-axis dynamics, hazard hotspots, benchmarks, and covariance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283464"/>
            <a:ext cx="3291840" cy="438912"/>
          </a:xfrm>
          <a:prstGeom prst="roundRect">
            <a:avLst/>
          </a:prstGeom>
          <a:solidFill>
            <a:srgbClr val="0F244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7: PYTHON ADVANCED VIZ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44068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70432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93B"/>
                </a:solidFill>
                <a:latin typeface="Calibri"/>
              </a:defRPr>
            </a:pPr>
            <a:r>
              <a:t>FIG 1: DUAL-AXIS PLANETARY TELEMETRY (1950–2024)</a:t>
            </a:r>
          </a:p>
        </p:txBody>
      </p:sp>
      <p:pic>
        <p:nvPicPr>
          <p:cNvPr id="9" name="Picture 8" descr="fig1_dual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257800" cy="16276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9632" y="1097280"/>
            <a:ext cx="544068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170432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93B"/>
                </a:solidFill>
                <a:latin typeface="Calibri"/>
              </a:defRPr>
            </a:pPr>
            <a:r>
              <a:t>FIG 2: GLOBAL EXTREME HAZARD SEVERITY HOTSPOTS</a:t>
            </a:r>
          </a:p>
        </p:txBody>
      </p:sp>
      <p:pic>
        <p:nvPicPr>
          <p:cNvPr id="12" name="Picture 11" descr="fig2_hotsp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63040"/>
            <a:ext cx="5257800" cy="162763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" y="3273551"/>
            <a:ext cx="544068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46703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93B"/>
                </a:solidFill>
                <a:latin typeface="Calibri"/>
              </a:defRPr>
            </a:pPr>
            <a:r>
              <a:t>FIG 3: THERMAL ANOMALY vs CLIMATE RISK WATCHLINE</a:t>
            </a:r>
          </a:p>
        </p:txBody>
      </p:sp>
      <p:pic>
        <p:nvPicPr>
          <p:cNvPr id="15" name="Picture 14" descr="fig3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39311"/>
            <a:ext cx="5257800" cy="162763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199632" y="3273551"/>
            <a:ext cx="5440680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346703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A193B"/>
                </a:solidFill>
                <a:latin typeface="Calibri"/>
              </a:defRPr>
            </a:pPr>
            <a:r>
              <a:t>FIG 4: SEABORN EMPIRICAL CORRELATION HEATMAP</a:t>
            </a:r>
          </a:p>
        </p:txBody>
      </p:sp>
      <p:pic>
        <p:nvPicPr>
          <p:cNvPr id="18" name="Picture 17" descr="fig4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639311"/>
            <a:ext cx="5257800" cy="162763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48640" y="5449822"/>
            <a:ext cx="11094415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5495542"/>
            <a:ext cx="11002975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541262"/>
            <a:ext cx="10765231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A193B"/>
                </a:solidFill>
                <a:latin typeface="Calibri"/>
              </a:defRPr>
            </a:pPr>
            <a:r>
              <a:t>EMPIRICAL TELEMETRY SYNTHESIS &amp; ADVANCED VISUALIZATION TAKEAWAYS</a:t>
            </a:r>
          </a:p>
          <a:p>
            <a:pPr>
              <a:spcBef>
                <a:spcPts val="200"/>
              </a:spcBef>
              <a:defRPr sz="780">
                <a:solidFill>
                  <a:srgbClr val="0F172A"/>
                </a:solidFill>
                <a:latin typeface="Calibri"/>
              </a:defRPr>
            </a:pPr>
            <a:r>
              <a:t>• Planetary Coupling: Atmospheric CO₂ concentration (+35.4% surge) exhibits near-perfect linear coupling with oceanic thermal expansion (r = +0.988) and cryospheric ice shrinkage (r = -0.888).</a:t>
            </a:r>
            <a:br/>
            <a:r>
              <a:t>• Catastrophe Concentration: Over 51.7% of global climate emergencies stem strictly from Wildfires and Heatwaves, confirming that municipal disaster budgets must deploy targeted automated early-warning telemetry rather than diffuse general programs.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2881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Climate &amp; Weather Trend Analytics | Academic DAV Project | Snehith Rishi • Rohan • Vinay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565392"/>
            <a:ext cx="34134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A193B"/>
                </a:solidFill>
                <a:latin typeface="Calibri"/>
              </a:defRPr>
            </a:pPr>
            <a:r>
              <a:t>Slide 6 of 7  |  Consulting Telemetry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Calibri"/>
              </a:defRPr>
            </a:pPr>
            <a:r>
              <a:t>PILLAR 8: STRATEGIC DECISIONS, IMPLEMENTATION ROADMAP &amp; BUSINESS ROI</a:t>
            </a:r>
          </a:p>
          <a:p>
            <a:pPr>
              <a:defRPr sz="1050">
                <a:solidFill>
                  <a:srgbClr val="00B4D8"/>
                </a:solidFill>
                <a:latin typeface="Calibri"/>
              </a:defRPr>
            </a:pPr>
            <a:r>
              <a:t>Enterprise risk mitigation, 3-phase execution timeline, quantifiable financial ROI, and research team sign-off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51215" y="283464"/>
            <a:ext cx="3291840" cy="438912"/>
          </a:xfrm>
          <a:prstGeom prst="roundRect">
            <a:avLst/>
          </a:prstGeom>
          <a:solidFill>
            <a:srgbClr val="0F244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PILLAR 8: DECISION &amp;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15568"/>
            <a:ext cx="263347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161288"/>
            <a:ext cx="2542032" cy="457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07008"/>
            <a:ext cx="2414016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>
                <a:solidFill>
                  <a:srgbClr val="00B4D8"/>
                </a:solidFill>
                <a:latin typeface="Calibri"/>
              </a:defRPr>
            </a:pPr>
            <a:r>
              <a:t>INFRASTRUCTURE RESILIENCE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0A193B"/>
                </a:solidFill>
                <a:latin typeface="Calibri"/>
              </a:defRPr>
            </a:pPr>
            <a:r>
              <a:t>Stormwater Drainage Reinforcement</a:t>
            </a:r>
          </a:p>
          <a:p>
            <a:pPr>
              <a:defRPr sz="720">
                <a:solidFill>
                  <a:srgbClr val="0F172A"/>
                </a:solidFill>
                <a:latin typeface="Calibri"/>
              </a:defRPr>
            </a:pPr>
            <a:r>
              <a:t>Expand high-capacity drainage &amp; runoff retention in rainfall hotspots (Tokyo 142 mm, NYC 105 mm) to avert urban flash-flooding.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115568"/>
            <a:ext cx="263347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0712" y="1161288"/>
            <a:ext cx="2542032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07008"/>
            <a:ext cx="2414016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>
                <a:solidFill>
                  <a:srgbClr val="EF4444"/>
                </a:solidFill>
                <a:latin typeface="Calibri"/>
              </a:defRPr>
            </a:pPr>
            <a:r>
              <a:t>WILDFIRE RISK PROTOCOLS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0A193B"/>
                </a:solidFill>
                <a:latin typeface="Calibri"/>
              </a:defRPr>
            </a:pPr>
            <a:r>
              <a:t>Thermal Drone Perimeter Grid</a:t>
            </a:r>
          </a:p>
          <a:p>
            <a:pPr>
              <a:defRPr sz="720">
                <a:solidFill>
                  <a:srgbClr val="0F172A"/>
                </a:solidFill>
                <a:latin typeface="Calibri"/>
              </a:defRPr>
            </a:pPr>
            <a:r>
              <a:t>Deploy automated infrared drone surveillance across high-risk wildfire corridors (572 event baseline) to halt outbreaks within 15 mins.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115568"/>
            <a:ext cx="263347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7064" y="1161288"/>
            <a:ext cx="2542032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207008"/>
            <a:ext cx="2414016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>
                <a:solidFill>
                  <a:srgbClr val="F59E0B"/>
                </a:solidFill>
                <a:latin typeface="Calibri"/>
              </a:defRPr>
            </a:pPr>
            <a:r>
              <a:t>SMART IOT GRID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0A193B"/>
                </a:solidFill>
                <a:latin typeface="Calibri"/>
              </a:defRPr>
            </a:pPr>
            <a:r>
              <a:t>Urban Heat Island (UHI) Sensors</a:t>
            </a:r>
          </a:p>
          <a:p>
            <a:pPr>
              <a:defRPr sz="720">
                <a:solidFill>
                  <a:srgbClr val="0F172A"/>
                </a:solidFill>
                <a:latin typeface="Calibri"/>
              </a:defRPr>
            </a:pPr>
            <a:r>
              <a:t>Install high-density thermal sensors across tropical metros like Chennai (34°C peak) to dynamically trigger cooling mist hubs &amp; power shedding.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115568"/>
            <a:ext cx="263347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43416" y="1161288"/>
            <a:ext cx="2542032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1207008"/>
            <a:ext cx="2414016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>
                <a:solidFill>
                  <a:srgbClr val="10B981"/>
                </a:solidFill>
                <a:latin typeface="Calibri"/>
              </a:defRPr>
            </a:pPr>
            <a:r>
              <a:t>POLICY &amp; AUDITING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50" b="1">
                <a:solidFill>
                  <a:srgbClr val="0A193B"/>
                </a:solidFill>
                <a:latin typeface="Calibri"/>
              </a:defRPr>
            </a:pPr>
            <a:r>
              <a:t>Enterprise Carbon Governance</a:t>
            </a:r>
          </a:p>
          <a:p>
            <a:pPr>
              <a:defRPr sz="720">
                <a:solidFill>
                  <a:srgbClr val="0F172A"/>
                </a:solidFill>
                <a:latin typeface="Calibri"/>
              </a:defRPr>
            </a:pPr>
            <a:r>
              <a:t>Institutionalize automated Python ETL telemetry pipelines for real-time Scope-1/Scope-2 emissions tracking and TCFD compliance.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25496"/>
            <a:ext cx="357530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71216"/>
            <a:ext cx="3483864" cy="457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916936"/>
            <a:ext cx="3319272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>
                <a:solidFill>
                  <a:srgbClr val="00B4D8"/>
                </a:solidFill>
                <a:latin typeface="Calibri"/>
              </a:defRPr>
            </a:pPr>
            <a:r>
              <a:t>PHASE 1: 30-DAY SPRINT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850" b="1">
                <a:solidFill>
                  <a:srgbClr val="0A193B"/>
                </a:solidFill>
                <a:latin typeface="Calibri"/>
              </a:defRPr>
            </a:pPr>
            <a:r>
              <a:t>Immediate Telemetry Standardization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Automated ETL Pipeline: </a:t>
            </a:r>
            <a:r>
              <a:rPr sz="700">
                <a:solidFill>
                  <a:srgbClr val="0F172A"/>
                </a:solidFill>
                <a:latin typeface="Calibri"/>
              </a:rPr>
              <a:t>Deploy scheduled python-based ingestion scripts to eliminate manual Excel entry.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Critical Asset Audit: </a:t>
            </a:r>
            <a:r>
              <a:rPr sz="700">
                <a:solidFill>
                  <a:srgbClr val="0F172A"/>
                </a:solidFill>
                <a:latin typeface="Calibri"/>
              </a:rPr>
              <a:t>Conduct audit of municipal drainage and high-voltage transmission lines in heat zones.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Incident Alert Webhooks: </a:t>
            </a:r>
            <a:r>
              <a:rPr sz="700">
                <a:solidFill>
                  <a:srgbClr val="0F172A"/>
                </a:solidFill>
                <a:latin typeface="Calibri"/>
              </a:rPr>
              <a:t>Configure automated threshold triggers for extreme precipitation spikes.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6824" y="2825496"/>
            <a:ext cx="357530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52544" y="2871216"/>
            <a:ext cx="3483864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916936"/>
            <a:ext cx="3319272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>
                <a:solidFill>
                  <a:srgbClr val="F59E0B"/>
                </a:solidFill>
                <a:latin typeface="Calibri"/>
              </a:defRPr>
            </a:pPr>
            <a:r>
              <a:t>PHASE 2: 90-DAY EXPANSION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850" b="1">
                <a:solidFill>
                  <a:srgbClr val="0A193B"/>
                </a:solidFill>
                <a:latin typeface="Calibri"/>
              </a:defRPr>
            </a:pPr>
            <a:r>
              <a:t>Metropolitan Grid Scaling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IoT Sensor Mesh Deployment: </a:t>
            </a:r>
            <a:r>
              <a:rPr sz="700">
                <a:solidFill>
                  <a:srgbClr val="0F172A"/>
                </a:solidFill>
                <a:latin typeface="Calibri"/>
              </a:rPr>
              <a:t>Roll out microclimate ground sensor nodes across pilot metropolitan areas.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Interactive Executive Portals: </a:t>
            </a:r>
            <a:r>
              <a:rPr sz="700">
                <a:solidFill>
                  <a:srgbClr val="0F172A"/>
                </a:solidFill>
                <a:latin typeface="Calibri"/>
              </a:rPr>
              <a:t>Migrate static spreadsheets into interactive Python/Streamlit dashboards.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Disaster Team Drill Alignment: </a:t>
            </a:r>
            <a:r>
              <a:rPr sz="700">
                <a:solidFill>
                  <a:srgbClr val="0F172A"/>
                </a:solidFill>
                <a:latin typeface="Calibri"/>
              </a:rPr>
              <a:t>Integrate wildfire perimeter telemetry directly with civil emergency dispatch.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2825496"/>
            <a:ext cx="3575304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10728" y="2871216"/>
            <a:ext cx="3483864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3024" y="2916936"/>
            <a:ext cx="3319272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1">
                <a:solidFill>
                  <a:srgbClr val="10B981"/>
                </a:solidFill>
                <a:latin typeface="Calibri"/>
              </a:defRPr>
            </a:pPr>
            <a:r>
              <a:t>PHASE 3: 1-YEAR TRANSFORMATION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850" b="1">
                <a:solidFill>
                  <a:srgbClr val="0A193B"/>
                </a:solidFill>
                <a:latin typeface="Calibri"/>
              </a:defRPr>
            </a:pPr>
            <a:r>
              <a:t>Autonomous Predictive Governance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Predictive Machine Learning: </a:t>
            </a:r>
            <a:r>
              <a:rPr sz="700">
                <a:solidFill>
                  <a:srgbClr val="0F172A"/>
                </a:solidFill>
                <a:latin typeface="Calibri"/>
              </a:rPr>
              <a:t>Operationalize 14-day extreme hazard forecasting models (XGBoost/LSTM).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Automated Parametric Insurance: </a:t>
            </a:r>
            <a:r>
              <a:rPr sz="700">
                <a:solidFill>
                  <a:srgbClr val="0F172A"/>
                </a:solidFill>
                <a:latin typeface="Calibri"/>
              </a:rPr>
              <a:t>Link smart sensor thresholds directly to insurer reinsurance claims payout.</a:t>
            </a:r>
          </a:p>
          <a:p>
            <a:pPr>
              <a:spcAft>
                <a:spcPts val="150"/>
              </a:spcAft>
            </a:pPr>
            <a:r>
              <a:rPr b="1" sz="720">
                <a:solidFill>
                  <a:srgbClr val="0F172A"/>
                </a:solidFill>
                <a:latin typeface="Calibri"/>
              </a:rPr>
              <a:t>• Full Regulatory Certification: </a:t>
            </a:r>
            <a:r>
              <a:rPr sz="700">
                <a:solidFill>
                  <a:srgbClr val="0F172A"/>
                </a:solidFill>
                <a:latin typeface="Calibri"/>
              </a:rPr>
              <a:t>Achieve 100% compliance with international ESG climate disclosure mandates.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71416"/>
            <a:ext cx="65836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4517136"/>
            <a:ext cx="6492240" cy="45720"/>
          </a:xfrm>
          <a:prstGeom prst="round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544568"/>
            <a:ext cx="62544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1">
                <a:solidFill>
                  <a:srgbClr val="0A193B"/>
                </a:solidFill>
                <a:latin typeface="Calibri"/>
              </a:defRPr>
            </a:pPr>
            <a:r>
              <a:t>QUANTIFIABLE ENTERPRISE BUSINESS ROI &amp; IMPACT METRICS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818888"/>
            <a:ext cx="30175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 bIns="0"/>
          <a:lstStyle/>
          <a:p>
            <a:pPr algn="ctr"/>
            <a:r>
              <a:rPr b="1" sz="1300">
                <a:solidFill>
                  <a:srgbClr val="00B4D8"/>
                </a:solidFill>
                <a:latin typeface="Calibri"/>
              </a:rPr>
              <a:t>+38.5% </a:t>
            </a:r>
            <a:r>
              <a:rPr b="1" sz="800">
                <a:solidFill>
                  <a:srgbClr val="0A193B"/>
                </a:solidFill>
                <a:latin typeface="Calibri"/>
              </a:rPr>
              <a:t>Emergency Response Speed</a:t>
            </a:r>
          </a:p>
          <a:p>
            <a:pPr>
              <a:defRPr sz="680">
                <a:solidFill>
                  <a:srgbClr val="0F172A"/>
                </a:solidFill>
                <a:latin typeface="Calibri"/>
              </a:defRPr>
            </a:pPr>
            <a:r>
              <a:t>Accelerated municipal emergency dispatch via automated webhook telemetry.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59352" y="4818888"/>
            <a:ext cx="30175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 bIns="0"/>
          <a:lstStyle/>
          <a:p>
            <a:pPr algn="ctr"/>
            <a:r>
              <a:rPr b="1" sz="1300">
                <a:solidFill>
                  <a:srgbClr val="10B981"/>
                </a:solidFill>
                <a:latin typeface="Calibri"/>
              </a:rPr>
              <a:t>$14.2M </a:t>
            </a:r>
            <a:r>
              <a:rPr b="1" sz="800">
                <a:solidFill>
                  <a:srgbClr val="0A193B"/>
                </a:solidFill>
                <a:latin typeface="Calibri"/>
              </a:rPr>
              <a:t>Annual Damage Avoidance</a:t>
            </a:r>
          </a:p>
          <a:p>
            <a:pPr>
              <a:defRPr sz="680">
                <a:solidFill>
                  <a:srgbClr val="0F172A"/>
                </a:solidFill>
                <a:latin typeface="Calibri"/>
              </a:defRPr>
            </a:pPr>
            <a:r>
              <a:t>Mitigated infrastructure loss across coastal supply routes and urban drainage.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5596128"/>
            <a:ext cx="30175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 bIns="0"/>
          <a:lstStyle/>
          <a:p>
            <a:pPr algn="ctr"/>
            <a:r>
              <a:rPr b="1" sz="1300">
                <a:solidFill>
                  <a:srgbClr val="F59E0B"/>
                </a:solidFill>
                <a:latin typeface="Calibri"/>
              </a:rPr>
              <a:t>-42.0% </a:t>
            </a:r>
            <a:r>
              <a:rPr b="1" sz="800">
                <a:solidFill>
                  <a:srgbClr val="0A193B"/>
                </a:solidFill>
                <a:latin typeface="Calibri"/>
              </a:rPr>
              <a:t>Sensor Outage Downtime</a:t>
            </a:r>
          </a:p>
          <a:p>
            <a:pPr>
              <a:defRPr sz="680">
                <a:solidFill>
                  <a:srgbClr val="0F172A"/>
                </a:solidFill>
                <a:latin typeface="Calibri"/>
              </a:defRPr>
            </a:pPr>
            <a:r>
              <a:t>Fault-tolerant redundant IoT mesh network preventing telemetry blackouts.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59352" y="5596128"/>
            <a:ext cx="3017520" cy="685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rIns="73152" bIns="0"/>
          <a:lstStyle/>
          <a:p>
            <a:pPr algn="ctr"/>
            <a:r>
              <a:rPr b="1" sz="1300">
                <a:solidFill>
                  <a:srgbClr val="EF4444"/>
                </a:solidFill>
                <a:latin typeface="Calibri"/>
              </a:rPr>
              <a:t>100% </a:t>
            </a:r>
            <a:r>
              <a:rPr b="1" sz="800">
                <a:solidFill>
                  <a:srgbClr val="0A193B"/>
                </a:solidFill>
                <a:latin typeface="Calibri"/>
              </a:rPr>
              <a:t>Regulatory Compliance</a:t>
            </a:r>
          </a:p>
          <a:p>
            <a:pPr>
              <a:defRPr sz="680">
                <a:solidFill>
                  <a:srgbClr val="0F172A"/>
                </a:solidFill>
                <a:latin typeface="Calibri"/>
              </a:defRPr>
            </a:pPr>
            <a:r>
              <a:t>Full auditability under international Task Force on Climate-related Financial Disclosures.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4471416"/>
            <a:ext cx="4327855" cy="1965960"/>
          </a:xfrm>
          <a:prstGeom prst="roundRect">
            <a:avLst/>
          </a:prstGeom>
          <a:solidFill>
            <a:srgbClr val="0F1F44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60920" y="4517136"/>
            <a:ext cx="4236415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2" y="4581144"/>
            <a:ext cx="3998671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RESEARCH SQUAD DEFENSE &amp; SIGN-OFF</a:t>
            </a:r>
          </a:p>
          <a:p>
            <a:pPr>
              <a:spcAft>
                <a:spcPts val="250"/>
              </a:spcAft>
            </a:pPr>
            <a:r>
              <a:rPr b="1" sz="780">
                <a:solidFill>
                  <a:srgbClr val="FFFFFF"/>
                </a:solidFill>
                <a:latin typeface="Calibri"/>
              </a:rPr>
              <a:t>✔ Snehith Rishi [2503A52232]: </a:t>
            </a:r>
            <a:r>
              <a:rPr sz="720">
                <a:solidFill>
                  <a:srgbClr val="00B4D8"/>
                </a:solidFill>
                <a:latin typeface="Calibri"/>
              </a:rPr>
              <a:t>Lead Data Architect &amp; ETL Pipeline</a:t>
            </a:r>
          </a:p>
          <a:p>
            <a:pPr>
              <a:spcAft>
                <a:spcPts val="250"/>
              </a:spcAft>
            </a:pPr>
            <a:r>
              <a:rPr b="1" sz="780">
                <a:solidFill>
                  <a:srgbClr val="FFFFFF"/>
                </a:solidFill>
                <a:latin typeface="Calibri"/>
              </a:rPr>
              <a:t>✔ Rohan [2503A52224]: </a:t>
            </a:r>
            <a:r>
              <a:rPr sz="720">
                <a:solidFill>
                  <a:srgbClr val="00B4D8"/>
                </a:solidFill>
                <a:latin typeface="Calibri"/>
              </a:rPr>
              <a:t>Statistical Modeler &amp; Advanced Python Viz</a:t>
            </a:r>
          </a:p>
          <a:p>
            <a:pPr>
              <a:spcAft>
                <a:spcPts val="250"/>
              </a:spcAft>
            </a:pPr>
            <a:r>
              <a:rPr b="1" sz="780">
                <a:solidFill>
                  <a:srgbClr val="FFFFFF"/>
                </a:solidFill>
                <a:latin typeface="Calibri"/>
              </a:rPr>
              <a:t>✔ Vinay [2503A52216]: </a:t>
            </a:r>
            <a:r>
              <a:rPr sz="720">
                <a:solidFill>
                  <a:srgbClr val="00B4D8"/>
                </a:solidFill>
                <a:latin typeface="Calibri"/>
              </a:rPr>
              <a:t>Excel BI Developer &amp; Enterprise Recommendations</a:t>
            </a:r>
          </a:p>
          <a:p>
            <a:pPr>
              <a:spcBef>
                <a:spcPts val="400"/>
              </a:spcBef>
            </a:pPr>
            <a:r>
              <a:rPr b="1" sz="819">
                <a:solidFill>
                  <a:srgbClr val="F59E0B"/>
                </a:solidFill>
              </a:rPr>
              <a:t>Academic DAV Capstone 2026
</a:t>
            </a:r>
            <a:r>
              <a:rPr sz="720">
                <a:solidFill>
                  <a:srgbClr val="E2E8F0"/>
                </a:solidFill>
              </a:rPr>
              <a:t>All 8 pillars compiled. Deck open for faculty defense &amp; inquiries.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528816"/>
            <a:ext cx="1109441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Climate &amp; Weather Trend Analytics | Academic DAV Project | Snehith Rishi • Rohan • Vinay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6565392"/>
            <a:ext cx="34134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A193B"/>
                </a:solidFill>
                <a:latin typeface="Calibri"/>
              </a:defRPr>
            </a:pPr>
            <a:r>
              <a:t>Slide 7 of 7  |  Consulting Telemetry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