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046720" y="3200400"/>
            <a:ext cx="4754880" cy="4114800"/>
          </a:xfrm>
          <a:prstGeom prst="rect">
            <a:avLst/>
          </a:prstGeom>
          <a:solidFill>
            <a:srgbClr val="1A3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4114800"/>
            <a:ext cx="3657600" cy="3200400"/>
          </a:xfrm>
          <a:prstGeom prst="rect">
            <a:avLst/>
          </a:prstGeom>
          <a:solidFill>
            <a:srgbClr val="0A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200400"/>
            <a:ext cx="5029200" cy="502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00584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DATA ANALYTICS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 Light"/>
              </a:rPr>
              <a:t>Electricity Consumption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774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00B4D8"/>
                </a:solidFill>
                <a:latin typeface="Calibri Light"/>
              </a:rPr>
              <a:t>&amp; Monitoring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337560"/>
            <a:ext cx="7315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B4D8"/>
                </a:solidFill>
                <a:latin typeface="Calibri"/>
              </a:rPr>
              <a:t>TG-SPDCL  |  Domestic Consumer Dataset  |  July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023360"/>
            <a:ext cx="5303520" cy="2423160"/>
          </a:xfrm>
          <a:prstGeom prst="rect">
            <a:avLst/>
          </a:prstGeom>
          <a:solidFill>
            <a:srgbClr val="122552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023360"/>
            <a:ext cx="53035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1148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Team Members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526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D. Chander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57200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  <a:latin typeface="Calibri"/>
              </a:rPr>
              <a:t>Roll: 2503A52214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05663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K. Arjun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510235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  <a:latin typeface="Calibri"/>
              </a:rPr>
              <a:t>Roll: 2503A52235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58698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P. Sachin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563270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  <a:latin typeface="Calibri"/>
              </a:rPr>
              <a:t>Roll: 2503A52240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2103120"/>
            <a:ext cx="1600200" cy="1508760"/>
          </a:xfrm>
          <a:prstGeom prst="rect">
            <a:avLst/>
          </a:prstGeom>
          <a:solidFill>
            <a:srgbClr val="122552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0" y="2103120"/>
            <a:ext cx="1600200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2240280"/>
            <a:ext cx="1463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B4D8"/>
                </a:solidFill>
                <a:latin typeface="Calibri Light"/>
              </a:rPr>
              <a:t>15,947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32186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A97A8"/>
                </a:solidFill>
                <a:latin typeface="Calibri"/>
              </a:rPr>
              <a:t>Sector Records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469880" y="2103120"/>
            <a:ext cx="1600200" cy="1508760"/>
          </a:xfrm>
          <a:prstGeom prst="rect">
            <a:avLst/>
          </a:prstGeom>
          <a:solidFill>
            <a:srgbClr val="122552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469880" y="2103120"/>
            <a:ext cx="1600200" cy="502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61320" y="2240280"/>
            <a:ext cx="1463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A623"/>
                </a:solidFill>
                <a:latin typeface="Calibri Light"/>
              </a:rPr>
              <a:t>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61320" y="32186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A97A8"/>
                </a:solidFill>
                <a:latin typeface="Calibri"/>
              </a:rPr>
              <a:t>Circles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3931920"/>
            <a:ext cx="1600200" cy="1508760"/>
          </a:xfrm>
          <a:prstGeom prst="rect">
            <a:avLst/>
          </a:prstGeom>
          <a:solidFill>
            <a:srgbClr val="122552"/>
          </a:solidFill>
          <a:ln w="19050">
            <a:solidFill>
              <a:srgbClr val="2DB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86800" y="3931920"/>
            <a:ext cx="1600200" cy="50292"/>
          </a:xfrm>
          <a:prstGeom prst="rect">
            <a:avLst/>
          </a:prstGeom>
          <a:solidFill>
            <a:srgbClr val="2DB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0" y="4069080"/>
            <a:ext cx="1463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DB87D"/>
                </a:solidFill>
                <a:latin typeface="Calibri Light"/>
              </a:rPr>
              <a:t>1,245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50474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A97A8"/>
                </a:solidFill>
                <a:latin typeface="Calibri"/>
              </a:rPr>
              <a:t>GWh Consumed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469880" y="3931920"/>
            <a:ext cx="1600200" cy="1508760"/>
          </a:xfrm>
          <a:prstGeom prst="rect">
            <a:avLst/>
          </a:prstGeom>
          <a:solidFill>
            <a:srgbClr val="122552"/>
          </a:solidFill>
          <a:ln w="19050">
            <a:solidFill>
              <a:srgbClr val="E08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469880" y="3931920"/>
            <a:ext cx="1600200" cy="50292"/>
          </a:xfrm>
          <a:prstGeom prst="rect">
            <a:avLst/>
          </a:prstGeom>
          <a:solidFill>
            <a:srgbClr val="E0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61320" y="4069080"/>
            <a:ext cx="1463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08C3E"/>
                </a:solidFill>
                <a:latin typeface="Calibri Light"/>
              </a:rPr>
              <a:t>92.68%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1320" y="50474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A97A8"/>
                </a:solidFill>
                <a:latin typeface="Calibri"/>
              </a:rPr>
              <a:t>Billing Rate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547104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B4D8"/>
                </a:solidFill>
                <a:latin typeface="Calibri"/>
              </a:rPr>
              <a:t>TG-SPDCL Domestic Electricity Consumption Analysis  |  July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654710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411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8E8"/>
                </a:solidFill>
                <a:latin typeface="Calibri"/>
              </a:rPr>
              <a:t>What we cover in this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84124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AA0CC"/>
                </a:solidFill>
                <a:latin typeface="Calibri"/>
              </a:rPr>
              <a:t>TG-SPDCL  |  Data Analytics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B4D8"/>
                </a:solidFill>
                <a:latin typeface="Calibri"/>
              </a:rPr>
              <a:t>TG-SPDCL Domestic Electricity Consumption Analysis  | 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4710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 /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417320"/>
            <a:ext cx="3749039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20" y="1417320"/>
            <a:ext cx="502920" cy="685800"/>
          </a:xfrm>
          <a:prstGeom prst="roundRect">
            <a:avLst>
              <a:gd name="adj" fmla="val 8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" y="158191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 Ligh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490472"/>
            <a:ext cx="3063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Dataset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819656"/>
            <a:ext cx="30632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Source, scope &amp; structure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7" y="1417320"/>
            <a:ext cx="3749039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1A31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24527" y="1417320"/>
            <a:ext cx="502920" cy="685800"/>
          </a:xfrm>
          <a:prstGeom prst="roundRect">
            <a:avLst>
              <a:gd name="adj" fmla="val 8000"/>
            </a:avLst>
          </a:prstGeom>
          <a:solidFill>
            <a:srgbClr val="1A3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1" y="158191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 Light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8887" y="1490472"/>
            <a:ext cx="3063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Column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18887" y="1819656"/>
            <a:ext cx="30632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Data types &amp; variable definitions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74734" y="1417320"/>
            <a:ext cx="3749039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78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74734" y="1417320"/>
            <a:ext cx="502920" cy="685800"/>
          </a:xfrm>
          <a:prstGeom prst="roundRect">
            <a:avLst>
              <a:gd name="adj" fmla="val 8000"/>
            </a:avLst>
          </a:prstGeom>
          <a:solidFill>
            <a:srgbClr val="C78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8" y="158191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 Light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69094" y="1490472"/>
            <a:ext cx="3063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Key Metrics (KPIs)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69094" y="1819656"/>
            <a:ext cx="30632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GWh, billing rate, load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2212848"/>
            <a:ext cx="3749039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2DB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74320" y="2212848"/>
            <a:ext cx="502920" cy="685800"/>
          </a:xfrm>
          <a:prstGeom prst="roundRect">
            <a:avLst>
              <a:gd name="adj" fmla="val 8000"/>
            </a:avLst>
          </a:prstGeom>
          <a:solidFill>
            <a:srgbClr val="2DB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" y="23774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 Light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2286000"/>
            <a:ext cx="3063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Circle Rankings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2615184"/>
            <a:ext cx="30632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Top &amp; bottom performing circles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24527" y="2212848"/>
            <a:ext cx="3749039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027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224527" y="2212848"/>
            <a:ext cx="502920" cy="685800"/>
          </a:xfrm>
          <a:prstGeom prst="roundRect">
            <a:avLst>
              <a:gd name="adj" fmla="val 8000"/>
            </a:avLst>
          </a:prstGeom>
          <a:solidFill>
            <a:srgbClr val="027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79391" y="23774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 Light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18887" y="2286000"/>
            <a:ext cx="3063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Analysis Pipeline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18887" y="2615184"/>
            <a:ext cx="30632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End-to-end data workflow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74734" y="2212848"/>
            <a:ext cx="3749039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174734" y="2212848"/>
            <a:ext cx="502920" cy="685800"/>
          </a:xfrm>
          <a:prstGeom prst="roundRect">
            <a:avLst>
              <a:gd name="adj" fmla="val 8000"/>
            </a:avLst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598" y="23774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 Light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69094" y="2286000"/>
            <a:ext cx="3063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Top 20 Areas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69094" y="2615184"/>
            <a:ext cx="30632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Highest demand neighborhoods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" y="3008376"/>
            <a:ext cx="3749039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05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74320" y="3008376"/>
            <a:ext cx="502920" cy="685800"/>
          </a:xfrm>
          <a:prstGeom prst="roundRect">
            <a:avLst>
              <a:gd name="adj" fmla="val 8000"/>
            </a:avLst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9184" y="31729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 Light"/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3081528"/>
            <a:ext cx="3063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Billing Efficiency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" y="3410712"/>
            <a:ext cx="30632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vs 95% benchmark target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24527" y="3008376"/>
            <a:ext cx="3749039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4A0A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224527" y="3008376"/>
            <a:ext cx="502920" cy="685800"/>
          </a:xfrm>
          <a:prstGeom prst="roundRect">
            <a:avLst>
              <a:gd name="adj" fmla="val 8000"/>
            </a:avLst>
          </a:prstGeom>
          <a:solidFill>
            <a:srgbClr val="4A0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79391" y="31729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 Light"/>
              </a:rPr>
              <a:t>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18887" y="3081528"/>
            <a:ext cx="3063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Load vs Consumption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18887" y="3410712"/>
            <a:ext cx="30632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Correlation &amp; regression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74734" y="3008376"/>
            <a:ext cx="3749039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174734" y="3008376"/>
            <a:ext cx="502920" cy="685800"/>
          </a:xfrm>
          <a:prstGeom prst="roundRect">
            <a:avLst>
              <a:gd name="adj" fmla="val 8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598" y="31729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 Light"/>
              </a:rPr>
              <a:t>09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69094" y="3081528"/>
            <a:ext cx="3063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Statistical Distributions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69094" y="3410712"/>
            <a:ext cx="30632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KDE histograms &amp; spread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74320" y="3803904"/>
            <a:ext cx="3749039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274320" y="3803904"/>
            <a:ext cx="502920" cy="685800"/>
          </a:xfrm>
          <a:prstGeom prst="roundRect">
            <a:avLst>
              <a:gd name="adj" fmla="val 8000"/>
            </a:avLst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9184" y="396849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 Light"/>
              </a:rPr>
              <a:t>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" y="3877056"/>
            <a:ext cx="3063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Data Quality &amp; Cleanup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" y="4206240"/>
            <a:ext cx="30632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Issues, outliers &amp; fixes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224527" y="3803904"/>
            <a:ext cx="3749039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78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4224527" y="3803904"/>
            <a:ext cx="502920" cy="685800"/>
          </a:xfrm>
          <a:prstGeom prst="roundRect">
            <a:avLst>
              <a:gd name="adj" fmla="val 8000"/>
            </a:avLst>
          </a:prstGeom>
          <a:solidFill>
            <a:srgbClr val="C78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79391" y="396849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 Light"/>
              </a:rPr>
              <a:t>11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18887" y="3877056"/>
            <a:ext cx="3063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Key Insights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18887" y="4206240"/>
            <a:ext cx="30632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Patterns &amp; analytical takeaways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174734" y="3803904"/>
            <a:ext cx="3749039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8174734" y="3803904"/>
            <a:ext cx="502920" cy="685800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29598" y="396849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 Light"/>
              </a:rPr>
              <a:t>12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69094" y="3877056"/>
            <a:ext cx="3063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Limitations &amp; Conclusion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69094" y="4206240"/>
            <a:ext cx="30632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Scope boundaries &amp;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411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8E8"/>
                </a:solidFill>
                <a:latin typeface="Calibri"/>
              </a:rPr>
              <a:t>TG-SPDCL Domestic Electricity Consumption —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84124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AA0CC"/>
                </a:solidFill>
                <a:latin typeface="Calibri"/>
              </a:rPr>
              <a:t>TG-SPDCL  |  Data Analytics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B4D8"/>
                </a:solidFill>
                <a:latin typeface="Calibri"/>
              </a:rPr>
              <a:t>TG-SPDCL Domestic Electricity Consumption Analysis  | 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4710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 /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371600"/>
            <a:ext cx="502920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20" y="1371600"/>
            <a:ext cx="5029200" cy="457200"/>
          </a:xfrm>
          <a:prstGeom prst="roundRect">
            <a:avLst>
              <a:gd name="adj" fmla="val 6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1732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About the Dataset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956816"/>
            <a:ext cx="4937760" cy="475488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99339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7A9B"/>
                </a:solidFill>
                <a:latin typeface="Calibri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1993392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E"/>
                </a:solidFill>
                <a:latin typeface="Calibri"/>
              </a:rPr>
              <a:t>TG-SPDCL — Telangana Southern Power Distribution Co.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487168"/>
            <a:ext cx="49377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52374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7A9B"/>
                </a:solidFill>
                <a:latin typeface="Calibri"/>
              </a:rPr>
              <a:t>Period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2523744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E"/>
                </a:solidFill>
                <a:latin typeface="Calibri"/>
              </a:rPr>
              <a:t>July 2026 (single-month snapshot)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017520"/>
            <a:ext cx="4937760" cy="475488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05409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7A9B"/>
                </a:solidFill>
                <a:latin typeface="Calibri"/>
              </a:rPr>
              <a:t>Category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3054096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E"/>
                </a:solidFill>
                <a:latin typeface="Calibri"/>
              </a:rPr>
              <a:t>DOMESTIC consumers 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547872"/>
            <a:ext cx="49377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58444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7A9B"/>
                </a:solidFill>
                <a:latin typeface="Calibri"/>
              </a:rPr>
              <a:t>Total Rows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358444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E"/>
                </a:solidFill>
                <a:latin typeface="Calibri"/>
              </a:rPr>
              <a:t>15,947 sector-level records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078224"/>
            <a:ext cx="4937760" cy="475488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1148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7A9B"/>
                </a:solidFill>
                <a:latin typeface="Calibri"/>
              </a:rPr>
              <a:t>Columns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411480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E"/>
                </a:solidFill>
                <a:latin typeface="Calibri"/>
              </a:rPr>
              <a:t>11 columns (6 categorical + 5 numerical)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608576"/>
            <a:ext cx="49377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64515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7A9B"/>
                </a:solidFill>
                <a:latin typeface="Calibri"/>
              </a:rPr>
              <a:t>Circles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4645152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E"/>
                </a:solidFill>
                <a:latin typeface="Calibri"/>
              </a:rPr>
              <a:t>20 circles across Telangana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138928"/>
            <a:ext cx="4937760" cy="475488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17550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7A9B"/>
                </a:solidFill>
                <a:latin typeface="Calibri"/>
              </a:rPr>
              <a:t>Divisions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83080" y="5175504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E"/>
                </a:solidFill>
                <a:latin typeface="Calibri"/>
              </a:rPr>
              <a:t>49 divisions | 131 sub-divisions | 476 sections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5669280"/>
            <a:ext cx="49377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70585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7A9B"/>
                </a:solidFill>
                <a:latin typeface="Calibri"/>
              </a:rPr>
              <a:t>File Size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83080" y="5705856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E"/>
                </a:solidFill>
                <a:latin typeface="Calibri"/>
              </a:rPr>
              <a:t>~1.4 MB CSV  |  Dataset link: TG-SPDCL Open Data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577840" y="1371600"/>
            <a:ext cx="630936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577840" y="1371600"/>
            <a:ext cx="6309360" cy="457200"/>
          </a:xfrm>
          <a:prstGeom prst="roundRect">
            <a:avLst>
              <a:gd name="adj" fmla="val 6000"/>
            </a:avLst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0" y="141732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Geographic &amp; Data Scope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15000" y="1965960"/>
            <a:ext cx="6035040" cy="4343400"/>
          </a:xfrm>
          <a:prstGeom prst="roundRect">
            <a:avLst>
              <a:gd name="adj" fmla="val 6000"/>
            </a:avLst>
          </a:prstGeom>
          <a:solidFill>
            <a:srgbClr val="1A3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06440" y="2039112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20 CIRCLES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89320" y="2331720"/>
            <a:ext cx="5394960" cy="3611880"/>
          </a:xfrm>
          <a:prstGeom prst="roundRect">
            <a:avLst>
              <a:gd name="adj" fmla="val 6000"/>
            </a:avLst>
          </a:prstGeom>
          <a:solidFill>
            <a:srgbClr val="027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80760" y="24048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49 DIVISIONS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9360" y="2743200"/>
            <a:ext cx="4754880" cy="2743200"/>
          </a:xfrm>
          <a:prstGeom prst="roundRect">
            <a:avLst>
              <a:gd name="adj" fmla="val 6000"/>
            </a:avLst>
          </a:prstGeom>
          <a:solidFill>
            <a:srgbClr val="03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28163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131 SUBDIVISIONS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75120" y="3200400"/>
            <a:ext cx="4023360" cy="1874519"/>
          </a:xfrm>
          <a:prstGeom prst="roundRect">
            <a:avLst>
              <a:gd name="adj" fmla="val 6000"/>
            </a:avLst>
          </a:prstGeom>
          <a:solidFill>
            <a:srgbClr val="2DB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560" y="327355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476 SECTIONS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040880" y="3657600"/>
            <a:ext cx="3291840" cy="1005840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32320" y="373075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15,947 RECORDS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411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Dataset Column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8E8"/>
                </a:solidFill>
                <a:latin typeface="Calibri"/>
              </a:rPr>
              <a:t>Variable descriptions, data types &amp; 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84124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AA0CC"/>
                </a:solidFill>
                <a:latin typeface="Calibri"/>
              </a:rPr>
              <a:t>TG-SPDCL  |  Data Analytics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B4D8"/>
                </a:solidFill>
                <a:latin typeface="Calibri"/>
              </a:rPr>
              <a:t>TG-SPDCL Domestic Electricity Consumption Analysis  | 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4710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 /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164592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472184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COLUMN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65960" y="1417320"/>
            <a:ext cx="1051560" cy="384048"/>
          </a:xfrm>
          <a:prstGeom prst="rect">
            <a:avLst/>
          </a:prstGeom>
          <a:solidFill>
            <a:srgbClr val="1A3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147218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DTYPE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3240" y="1417320"/>
            <a:ext cx="1280160" cy="384048"/>
          </a:xfrm>
          <a:prstGeom prst="rect">
            <a:avLst/>
          </a:prstGeom>
          <a:solidFill>
            <a:srgbClr val="027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4680" y="147218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1417320"/>
            <a:ext cx="7498079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472184"/>
            <a:ext cx="7360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801368"/>
            <a:ext cx="11612880" cy="438912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1865376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CIRCLE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883664"/>
            <a:ext cx="1005840" cy="274320"/>
          </a:xfrm>
          <a:prstGeom prst="roundRect">
            <a:avLst>
              <a:gd name="adj" fmla="val 60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29968" y="1892808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Object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90672" y="1883664"/>
            <a:ext cx="1188720" cy="274320"/>
          </a:xfrm>
          <a:prstGeom prst="roundRect">
            <a:avLst>
              <a:gd name="adj" fmla="val 60000"/>
            </a:avLst>
          </a:prstGeom>
          <a:solidFill>
            <a:srgbClr val="C78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27248" y="189280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Categorical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8" y="1865376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E"/>
                </a:solidFill>
                <a:latin typeface="Calibri"/>
              </a:rPr>
              <a:t>Top-level geographic region (20 unique circles)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249424"/>
            <a:ext cx="116128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2313432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DIVISION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93392" y="2331720"/>
            <a:ext cx="1005840" cy="274320"/>
          </a:xfrm>
          <a:prstGeom prst="roundRect">
            <a:avLst>
              <a:gd name="adj" fmla="val 60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29968" y="2340864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Object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90672" y="2331720"/>
            <a:ext cx="1188720" cy="274320"/>
          </a:xfrm>
          <a:prstGeom prst="roundRect">
            <a:avLst>
              <a:gd name="adj" fmla="val 60000"/>
            </a:avLst>
          </a:prstGeom>
          <a:solidFill>
            <a:srgbClr val="C78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27248" y="234086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Categorical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7408" y="2313432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E"/>
                </a:solidFill>
                <a:latin typeface="Calibri"/>
              </a:rPr>
              <a:t>Sub-region within a circle (49 divisions)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2697480"/>
            <a:ext cx="11612880" cy="438912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2761488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SUBDIVISION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93392" y="2779776"/>
            <a:ext cx="1005840" cy="274320"/>
          </a:xfrm>
          <a:prstGeom prst="roundRect">
            <a:avLst>
              <a:gd name="adj" fmla="val 60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29968" y="2788920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Object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090672" y="2779776"/>
            <a:ext cx="1188720" cy="274320"/>
          </a:xfrm>
          <a:prstGeom prst="roundRect">
            <a:avLst>
              <a:gd name="adj" fmla="val 60000"/>
            </a:avLst>
          </a:prstGeom>
          <a:solidFill>
            <a:srgbClr val="C78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27248" y="278892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Categorical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07408" y="2761488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E"/>
                </a:solidFill>
                <a:latin typeface="Calibri"/>
              </a:rPr>
              <a:t>Subdivision within a division (131 total)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145536"/>
            <a:ext cx="116128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209544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SECTION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993392" y="3227832"/>
            <a:ext cx="1005840" cy="274320"/>
          </a:xfrm>
          <a:prstGeom prst="roundRect">
            <a:avLst>
              <a:gd name="adj" fmla="val 60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29968" y="3236976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Object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090672" y="3227832"/>
            <a:ext cx="1188720" cy="274320"/>
          </a:xfrm>
          <a:prstGeom prst="roundRect">
            <a:avLst>
              <a:gd name="adj" fmla="val 60000"/>
            </a:avLst>
          </a:prstGeom>
          <a:solidFill>
            <a:srgbClr val="C78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27248" y="323697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Categorical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07408" y="3209544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E"/>
                </a:solidFill>
                <a:latin typeface="Calibri"/>
              </a:rPr>
              <a:t>Service section area (476 sections)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3593592"/>
            <a:ext cx="11612880" cy="438912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3657600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AREA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993392" y="3675888"/>
            <a:ext cx="1005840" cy="274320"/>
          </a:xfrm>
          <a:prstGeom prst="roundRect">
            <a:avLst>
              <a:gd name="adj" fmla="val 60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29968" y="3685032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Object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090672" y="3675888"/>
            <a:ext cx="1188720" cy="274320"/>
          </a:xfrm>
          <a:prstGeom prst="roundRect">
            <a:avLst>
              <a:gd name="adj" fmla="val 60000"/>
            </a:avLst>
          </a:prstGeom>
          <a:solidFill>
            <a:srgbClr val="C78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27248" y="368503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Categorical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07408" y="3657600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E"/>
                </a:solidFill>
                <a:latin typeface="Calibri"/>
              </a:rPr>
              <a:t>Specific neighborhood / locality (47 NULLs)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041648"/>
            <a:ext cx="116128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4105656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CATDESC/CODE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993392" y="4123944"/>
            <a:ext cx="1005840" cy="274320"/>
          </a:xfrm>
          <a:prstGeom prst="roundRect">
            <a:avLst>
              <a:gd name="adj" fmla="val 60000"/>
            </a:avLst>
          </a:prstGeom>
          <a:solidFill>
            <a:srgbClr val="1A3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29968" y="4133088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Object/Int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090672" y="4123944"/>
            <a:ext cx="1188720" cy="274320"/>
          </a:xfrm>
          <a:prstGeom prst="roundRect">
            <a:avLst>
              <a:gd name="adj" fmla="val 60000"/>
            </a:avLst>
          </a:prstGeom>
          <a:solidFill>
            <a:srgbClr val="C78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127248" y="413308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Categorical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07408" y="4105656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E"/>
                </a:solidFill>
                <a:latin typeface="Calibri"/>
              </a:rPr>
              <a:t>Consumer category — DOMESTIC only (code=1)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4489704"/>
            <a:ext cx="11612880" cy="438912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" y="4553712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TOTSERVICES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993392" y="4572000"/>
            <a:ext cx="1005840" cy="274320"/>
          </a:xfrm>
          <a:prstGeom prst="roundRect">
            <a:avLst>
              <a:gd name="adj" fmla="val 60000"/>
            </a:avLst>
          </a:prstGeom>
          <a:solidFill>
            <a:srgbClr val="1A3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29968" y="4581144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Int64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090672" y="4572000"/>
            <a:ext cx="1188720" cy="274320"/>
          </a:xfrm>
          <a:prstGeom prst="roundRect">
            <a:avLst>
              <a:gd name="adj" fmla="val 60000"/>
            </a:avLst>
          </a:prstGeom>
          <a:solidFill>
            <a:srgbClr val="2DB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127248" y="458114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Numerical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07408" y="4553712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E"/>
                </a:solidFill>
                <a:latin typeface="Calibri"/>
              </a:rPr>
              <a:t>Total registered electricity connections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4937760"/>
            <a:ext cx="116128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60" y="5001768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BILLDSERVICES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993392" y="5020056"/>
            <a:ext cx="1005840" cy="274320"/>
          </a:xfrm>
          <a:prstGeom prst="roundRect">
            <a:avLst>
              <a:gd name="adj" fmla="val 60000"/>
            </a:avLst>
          </a:prstGeom>
          <a:solidFill>
            <a:srgbClr val="1A3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029968" y="5029200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Float64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090672" y="5020056"/>
            <a:ext cx="1188720" cy="274320"/>
          </a:xfrm>
          <a:prstGeom prst="roundRect">
            <a:avLst>
              <a:gd name="adj" fmla="val 60000"/>
            </a:avLst>
          </a:prstGeom>
          <a:solidFill>
            <a:srgbClr val="2DB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127248" y="502920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Numerical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407408" y="5001768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E"/>
                </a:solidFill>
                <a:latin typeface="Calibri"/>
              </a:rPr>
              <a:t>Billed connections (247 NULLs = zero-unit areas)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74320" y="5385816"/>
            <a:ext cx="11612880" cy="438912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5760" y="5449824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UNITS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993392" y="5468112"/>
            <a:ext cx="1005840" cy="274320"/>
          </a:xfrm>
          <a:prstGeom prst="roundRect">
            <a:avLst>
              <a:gd name="adj" fmla="val 60000"/>
            </a:avLst>
          </a:prstGeom>
          <a:solidFill>
            <a:srgbClr val="1A3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029968" y="5477256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Float64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090672" y="5468112"/>
            <a:ext cx="1188720" cy="274320"/>
          </a:xfrm>
          <a:prstGeom prst="roundRect">
            <a:avLst>
              <a:gd name="adj" fmla="val 60000"/>
            </a:avLst>
          </a:prstGeom>
          <a:solidFill>
            <a:srgbClr val="2DB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127248" y="547725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Numerical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407408" y="5449824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E"/>
                </a:solidFill>
                <a:latin typeface="Calibri"/>
              </a:rPr>
              <a:t>Monthly electricity consumed in kWh (15 negatives)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4320" y="5833872"/>
            <a:ext cx="116128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65760" y="5897880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LOAD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993392" y="5916168"/>
            <a:ext cx="1005840" cy="274320"/>
          </a:xfrm>
          <a:prstGeom prst="roundRect">
            <a:avLst>
              <a:gd name="adj" fmla="val 60000"/>
            </a:avLst>
          </a:prstGeom>
          <a:solidFill>
            <a:srgbClr val="1A3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029968" y="5925312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Float64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090672" y="5916168"/>
            <a:ext cx="1188720" cy="274320"/>
          </a:xfrm>
          <a:prstGeom prst="roundRect">
            <a:avLst>
              <a:gd name="adj" fmla="val 60000"/>
            </a:avLst>
          </a:prstGeom>
          <a:solidFill>
            <a:srgbClr val="2DB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127248" y="592531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Numerical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407408" y="5897880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E"/>
                </a:solidFill>
                <a:latin typeface="Calibri"/>
              </a:rPr>
              <a:t>Sanctioned connected load in kW (decimal values)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411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Key Performance Indicators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8E8"/>
                </a:solidFill>
                <a:latin typeface="Calibri"/>
              </a:rPr>
              <a:t>Overall summary metrics for July 2026 domestic supply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84124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AA0CC"/>
                </a:solidFill>
                <a:latin typeface="Calibri"/>
              </a:rPr>
              <a:t>TG-SPDCL  |  Data Analytics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B4D8"/>
                </a:solidFill>
                <a:latin typeface="Calibri"/>
              </a:rPr>
              <a:t>TG-SPDCL Domestic Electricity Consumption Analysis  | 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4710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 /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417320"/>
            <a:ext cx="27889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160" y="1417320"/>
            <a:ext cx="73152" cy="15727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15270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TOTAL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" y="176479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D1B3E"/>
                </a:solidFill>
                <a:latin typeface="Calibri Light"/>
              </a:rPr>
              <a:t>15,947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" y="2606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7A8"/>
                </a:solidFill>
                <a:latin typeface="Calibri"/>
              </a:rPr>
              <a:t>Sector-level area rows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90672" y="1417320"/>
            <a:ext cx="27889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90672" y="1417320"/>
            <a:ext cx="73152" cy="1572768"/>
          </a:xfrm>
          <a:prstGeom prst="rect">
            <a:avLst/>
          </a:prstGeom>
          <a:solidFill>
            <a:srgbClr val="1A3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55264" y="15270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CIRCLES COVERED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55264" y="176479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D1B3E"/>
                </a:solidFill>
                <a:latin typeface="Calibri Light"/>
              </a:rP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55264" y="2606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7A8"/>
                </a:solidFill>
                <a:latin typeface="Calibri"/>
              </a:rPr>
              <a:t>20 circles | 49 divisions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44184" y="1417320"/>
            <a:ext cx="27889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44184" y="1417320"/>
            <a:ext cx="73152" cy="1572768"/>
          </a:xfrm>
          <a:prstGeom prst="rect">
            <a:avLst/>
          </a:prstGeom>
          <a:solidFill>
            <a:srgbClr val="C78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08776" y="15270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TOTAL CONNECTIONS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08776" y="176479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D1B3E"/>
                </a:solidFill>
                <a:latin typeface="Calibri Light"/>
              </a:rPr>
              <a:t>8,867,827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08776" y="2606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7A8"/>
                </a:solidFill>
                <a:latin typeface="Calibri"/>
              </a:rPr>
              <a:t>Registered domestic services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97696" y="1417320"/>
            <a:ext cx="27889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97696" y="1417320"/>
            <a:ext cx="73152" cy="1572768"/>
          </a:xfrm>
          <a:prstGeom prst="rect">
            <a:avLst/>
          </a:prstGeom>
          <a:solidFill>
            <a:srgbClr val="2DB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15270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BILLED CONNECTIONS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62288" y="176479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D1B3E"/>
                </a:solidFill>
                <a:latin typeface="Calibri Light"/>
              </a:rPr>
              <a:t>8,218,867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2288" y="2606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7A8"/>
                </a:solidFill>
                <a:latin typeface="Calibri"/>
              </a:rPr>
              <a:t>Connections that received a bill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" y="3118104"/>
            <a:ext cx="27889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37160" y="3118104"/>
            <a:ext cx="73152" cy="1572768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" y="32278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BILLING EFFICIENCY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" y="3465576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D1B3E"/>
                </a:solidFill>
                <a:latin typeface="Calibri Light"/>
              </a:rPr>
              <a:t>92.68%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" y="430682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7A8"/>
                </a:solidFill>
                <a:latin typeface="Calibri"/>
              </a:rPr>
              <a:t>Gap: ~649K unbilled  |  Target: 95%+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90672" y="3118104"/>
            <a:ext cx="27889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090672" y="3118104"/>
            <a:ext cx="73152" cy="1572768"/>
          </a:xfrm>
          <a:prstGeom prst="rect">
            <a:avLst/>
          </a:prstGeom>
          <a:solidFill>
            <a:srgbClr val="027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55264" y="32278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TOTAL ENERGY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55264" y="3465576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D1B3E"/>
                </a:solidFill>
                <a:latin typeface="Calibri Light"/>
              </a:rPr>
              <a:t>1,245 GWh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55264" y="430682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7A8"/>
                </a:solidFill>
                <a:latin typeface="Calibri"/>
              </a:rPr>
              <a:t>1,245,523,023 kWh total monthly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44184" y="3118104"/>
            <a:ext cx="27889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44184" y="3118104"/>
            <a:ext cx="73152" cy="15727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08776" y="32278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SANCTIONED LOAD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08776" y="3465576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D1B3E"/>
                </a:solidFill>
                <a:latin typeface="Calibri Light"/>
              </a:rPr>
              <a:t>13,779 MW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08776" y="430682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7A8"/>
                </a:solidFill>
                <a:latin typeface="Calibri"/>
              </a:rPr>
              <a:t>13,778,816 kW connected capacity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97696" y="3118104"/>
            <a:ext cx="278892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997696" y="3118104"/>
            <a:ext cx="73152" cy="1572768"/>
          </a:xfrm>
          <a:prstGeom prst="rect">
            <a:avLst/>
          </a:prstGeom>
          <a:solidFill>
            <a:srgbClr val="C78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62288" y="32278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AVG / HOUSEHOLD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62288" y="3465576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D1B3E"/>
                </a:solidFill>
                <a:latin typeface="Calibri Light"/>
              </a:rPr>
              <a:t>151.5 kWh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62288" y="430682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7A8"/>
                </a:solidFill>
                <a:latin typeface="Calibri"/>
              </a:rPr>
              <a:t>Per billed connection per month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37160" y="6419088"/>
            <a:ext cx="1170432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492240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  <a:latin typeface="Calibri"/>
              </a:rPr>
              <a:t>Note: Billing efficiency gap of 7.32% represents approximately 649,000 connections not billed — a key operational priority for TG-SPDCL.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411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End-to-End Analysis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8E8"/>
                </a:solidFill>
                <a:latin typeface="Calibri"/>
              </a:rPr>
              <a:t>From raw CSV to interactive dashboard — data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84124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AA0CC"/>
                </a:solidFill>
                <a:latin typeface="Calibri"/>
              </a:rPr>
              <a:t>TG-SPDCL  |  Data Analytics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B4D8"/>
                </a:solidFill>
                <a:latin typeface="Calibri"/>
              </a:rPr>
              <a:t>TG-SPDCL Domestic Electricity Consumption Analysis  | 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4710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 /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508760"/>
            <a:ext cx="2103120" cy="1005840"/>
          </a:xfrm>
          <a:prstGeom prst="roundRect">
            <a:avLst>
              <a:gd name="adj" fmla="val 8000"/>
            </a:avLst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RAW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2212848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DEE"/>
                </a:solidFill>
                <a:latin typeface="Calibri"/>
              </a:rPr>
              <a:t>TG-SPDCL CSV
15,947 rows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1508760"/>
            <a:ext cx="2103120" cy="1005840"/>
          </a:xfrm>
          <a:prstGeom prst="roundRect">
            <a:avLst>
              <a:gd name="adj" fmla="val 8000"/>
            </a:avLst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1572768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DATA CLEANING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4912" y="2212848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DEE"/>
                </a:solidFill>
                <a:latin typeface="Calibri"/>
              </a:rPr>
              <a:t>Fill NULLs
Clip negatives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1508760"/>
            <a:ext cx="2103120" cy="1005840"/>
          </a:xfrm>
          <a:prstGeom prst="roundRect">
            <a:avLst>
              <a:gd name="adj" fmla="val 8000"/>
            </a:avLst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1572768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FEATURE ENG.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2352" y="2212848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DEE"/>
                </a:solidFill>
                <a:latin typeface="Calibri"/>
              </a:rPr>
              <a:t>Billing rate %
Units per service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1508760"/>
            <a:ext cx="2103120" cy="1005840"/>
          </a:xfrm>
          <a:prstGeom prst="roundRect">
            <a:avLst>
              <a:gd name="adj" fmla="val 8000"/>
            </a:avLst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0" y="1572768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AGGREGATION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9792" y="2212848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DEE"/>
                </a:solidFill>
                <a:latin typeface="Calibri"/>
              </a:rPr>
              <a:t>Group by circle
Division pivots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4080" y="1508760"/>
            <a:ext cx="2103120" cy="1005840"/>
          </a:xfrm>
          <a:prstGeom prst="roundRect">
            <a:avLst>
              <a:gd name="adj" fmla="val 8000"/>
            </a:avLst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0" y="1572768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EXPORT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57232" y="2212848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DEE"/>
                </a:solidFill>
                <a:latin typeface="Calibri"/>
              </a:rPr>
              <a:t>analysis_summary
.json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1124712"/>
            <a:ext cx="1371600" cy="292608"/>
          </a:xfrm>
          <a:prstGeom prst="roundRect">
            <a:avLst>
              <a:gd name="adj" fmla="val 70000"/>
            </a:avLst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116128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INGEST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17520" y="1124712"/>
            <a:ext cx="1371600" cy="292608"/>
          </a:xfrm>
          <a:prstGeom prst="roundRect">
            <a:avLst>
              <a:gd name="adj" fmla="val 70000"/>
            </a:avLst>
          </a:prstGeom>
          <a:solidFill>
            <a:srgbClr val="027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72384" y="116128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CLEAN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94960" y="1124712"/>
            <a:ext cx="1371600" cy="292608"/>
          </a:xfrm>
          <a:prstGeom prst="roundRect">
            <a:avLst>
              <a:gd name="adj" fmla="val 70000"/>
            </a:avLst>
          </a:prstGeom>
          <a:solidFill>
            <a:srgbClr val="1A3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49824" y="116128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ENGINEER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1124712"/>
            <a:ext cx="1371600" cy="292608"/>
          </a:xfrm>
          <a:prstGeom prst="roundRect">
            <a:avLst>
              <a:gd name="adj" fmla="val 70000"/>
            </a:avLst>
          </a:prstGeom>
          <a:solidFill>
            <a:srgbClr val="C78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27264" y="116128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AGGREGATE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49840" y="1124712"/>
            <a:ext cx="1371600" cy="292608"/>
          </a:xfrm>
          <a:prstGeom prst="roundRect">
            <a:avLst>
              <a:gd name="adj" fmla="val 70000"/>
            </a:avLst>
          </a:prstGeom>
          <a:solidFill>
            <a:srgbClr val="2DB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04704" y="116128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377440" y="2002536"/>
            <a:ext cx="548640" cy="0"/>
          </a:xfrm>
          <a:prstGeom prst="line">
            <a:avLst/>
          </a:prstGeom>
          <a:ln w="2286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754880" y="2002536"/>
            <a:ext cx="548640" cy="0"/>
          </a:xfrm>
          <a:prstGeom prst="line">
            <a:avLst/>
          </a:prstGeom>
          <a:ln w="2286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132320" y="2002536"/>
            <a:ext cx="548640" cy="0"/>
          </a:xfrm>
          <a:prstGeom prst="line">
            <a:avLst/>
          </a:prstGeom>
          <a:ln w="2286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509760" y="2002536"/>
            <a:ext cx="548640" cy="0"/>
          </a:xfrm>
          <a:prstGeom prst="line">
            <a:avLst/>
          </a:prstGeom>
          <a:ln w="2286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228600" y="3108960"/>
            <a:ext cx="1175004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32461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7A9B"/>
                </a:solidFill>
                <a:latin typeface="Calibri"/>
              </a:rPr>
              <a:t>ANALYSIS OUTPUTS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3630168"/>
            <a:ext cx="2103120" cy="896112"/>
          </a:xfrm>
          <a:prstGeom prst="roundRect">
            <a:avLst>
              <a:gd name="adj" fmla="val 8000"/>
            </a:avLst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3694176"/>
            <a:ext cx="192024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circle_consumption.png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472" y="4224528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DEE"/>
                </a:solidFill>
                <a:latin typeface="Calibri"/>
              </a:rPr>
              <a:t>Circle GWh &amp; Load chart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51760" y="3630168"/>
            <a:ext cx="2103120" cy="896112"/>
          </a:xfrm>
          <a:prstGeom prst="roundRect">
            <a:avLst>
              <a:gd name="adj" fmla="val 8000"/>
            </a:avLst>
          </a:prstGeom>
          <a:solidFill>
            <a:srgbClr val="C78300"/>
          </a:solidFill>
          <a:ln>
            <a:solidFill>
              <a:srgbClr val="C78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0" y="3694176"/>
            <a:ext cx="192024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top20_areas.png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24912" y="4224528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DEE"/>
                </a:solidFill>
                <a:latin typeface="Calibri"/>
              </a:rPr>
              <a:t>Top demand zones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0" y="3630168"/>
            <a:ext cx="2103120" cy="896112"/>
          </a:xfrm>
          <a:prstGeom prst="roundRect">
            <a:avLst>
              <a:gd name="adj" fmla="val 8000"/>
            </a:avLst>
          </a:prstGeom>
          <a:solidFill>
            <a:srgbClr val="1A316B"/>
          </a:solidFill>
          <a:ln>
            <a:solidFill>
              <a:srgbClr val="1A31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20640" y="3694176"/>
            <a:ext cx="192024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billing_efficiency.png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02352" y="4224528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DEE"/>
                </a:solidFill>
                <a:latin typeface="Calibri"/>
              </a:rPr>
              <a:t>Billing rate vs target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06640" y="3630168"/>
            <a:ext cx="2103120" cy="896112"/>
          </a:xfrm>
          <a:prstGeom prst="roundRect">
            <a:avLst>
              <a:gd name="adj" fmla="val 8000"/>
            </a:avLst>
          </a:prstGeom>
          <a:solidFill>
            <a:srgbClr val="2DB87D"/>
          </a:solidFill>
          <a:ln>
            <a:solidFill>
              <a:srgbClr val="2DB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98080" y="3694176"/>
            <a:ext cx="192024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load_vs_units.png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79792" y="4224528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DEE"/>
                </a:solidFill>
                <a:latin typeface="Calibri"/>
              </a:rPr>
              <a:t>Regression scatter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784080" y="3630168"/>
            <a:ext cx="2103120" cy="896112"/>
          </a:xfrm>
          <a:prstGeom prst="roundRect">
            <a:avLst>
              <a:gd name="adj" fmla="val 8000"/>
            </a:avLst>
          </a:prstGeom>
          <a:solidFill>
            <a:srgbClr val="7A1FA0"/>
          </a:solidFill>
          <a:ln>
            <a:solidFill>
              <a:srgbClr val="7A1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875520" y="3694176"/>
            <a:ext cx="192024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distribution_metrics.png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57232" y="4224528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DEE"/>
                </a:solidFill>
                <a:latin typeface="Calibri"/>
              </a:rPr>
              <a:t>KDE histograms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" y="4828032"/>
            <a:ext cx="1175004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" y="4892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78300"/>
                </a:solidFill>
                <a:latin typeface="Calibri"/>
              </a:rPr>
              <a:t>WEB DASHBOARD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74320" y="5257800"/>
            <a:ext cx="2103120" cy="896112"/>
          </a:xfrm>
          <a:prstGeom prst="roundRect">
            <a:avLst>
              <a:gd name="adj" fmla="val 8000"/>
            </a:avLst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" y="5321808"/>
            <a:ext cx="192024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KPI Cards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7472" y="5852160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DEE"/>
                </a:solidFill>
                <a:latin typeface="Calibri"/>
              </a:rPr>
              <a:t>Live metric tiles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651760" y="5257800"/>
            <a:ext cx="2103120" cy="896112"/>
          </a:xfrm>
          <a:prstGeom prst="roundRect">
            <a:avLst>
              <a:gd name="adj" fmla="val 8000"/>
            </a:avLst>
          </a:prstGeom>
          <a:solidFill>
            <a:srgbClr val="027A9B"/>
          </a:solidFill>
          <a:ln>
            <a:solidFill>
              <a:srgbClr val="027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743200" y="5321808"/>
            <a:ext cx="192024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Chart.js Graphs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24912" y="5852160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DEE"/>
                </a:solidFill>
                <a:latin typeface="Calibri"/>
              </a:rPr>
              <a:t>Interactive visuals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029200" y="5257800"/>
            <a:ext cx="2103120" cy="896112"/>
          </a:xfrm>
          <a:prstGeom prst="roundRect">
            <a:avLst>
              <a:gd name="adj" fmla="val 8000"/>
            </a:avLst>
          </a:prstGeom>
          <a:solidFill>
            <a:srgbClr val="1A316B"/>
          </a:solidFill>
          <a:ln>
            <a:solidFill>
              <a:srgbClr val="1A31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120640" y="5321808"/>
            <a:ext cx="192024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Filter Slicers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102352" y="5852160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DEE"/>
                </a:solidFill>
                <a:latin typeface="Calibri"/>
              </a:rPr>
              <a:t>Circle / Division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406640" y="5257800"/>
            <a:ext cx="2103120" cy="896112"/>
          </a:xfrm>
          <a:prstGeom prst="roundRect">
            <a:avLst>
              <a:gd name="adj" fmla="val 8000"/>
            </a:avLst>
          </a:prstGeom>
          <a:solidFill>
            <a:srgbClr val="C78300"/>
          </a:solidFill>
          <a:ln>
            <a:solidFill>
              <a:srgbClr val="C78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98080" y="5321808"/>
            <a:ext cx="192024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Anomaly Alerts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79792" y="5852160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DEE"/>
                </a:solidFill>
                <a:latin typeface="Calibri"/>
              </a:rPr>
              <a:t>&lt;85% billing flags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784080" y="5257800"/>
            <a:ext cx="2103120" cy="896112"/>
          </a:xfrm>
          <a:prstGeom prst="roundRect">
            <a:avLst>
              <a:gd name="adj" fmla="val 8000"/>
            </a:avLst>
          </a:prstGeom>
          <a:solidFill>
            <a:srgbClr val="2DB87D"/>
          </a:solidFill>
          <a:ln>
            <a:solidFill>
              <a:srgbClr val="2DB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875520" y="5321808"/>
            <a:ext cx="192024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CSV Export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857232" y="5852160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DEE"/>
                </a:solidFill>
                <a:latin typeface="Calibri"/>
              </a:rPr>
              <a:t>Paginated data table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1325880" y="4544568"/>
            <a:ext cx="0" cy="457200"/>
          </a:xfrm>
          <a:prstGeom prst="line">
            <a:avLst/>
          </a:prstGeom>
          <a:ln w="2286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3703320" y="4544568"/>
            <a:ext cx="0" cy="457200"/>
          </a:xfrm>
          <a:prstGeom prst="line">
            <a:avLst/>
          </a:prstGeom>
          <a:ln w="2286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6080760" y="4544568"/>
            <a:ext cx="0" cy="457200"/>
          </a:xfrm>
          <a:prstGeom prst="line">
            <a:avLst/>
          </a:prstGeom>
          <a:ln w="2286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458200" y="4544568"/>
            <a:ext cx="0" cy="457200"/>
          </a:xfrm>
          <a:prstGeom prst="line">
            <a:avLst/>
          </a:prstGeom>
          <a:ln w="2286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0835640" y="4544568"/>
            <a:ext cx="0" cy="457200"/>
          </a:xfrm>
          <a:prstGeom prst="line">
            <a:avLst/>
          </a:prstGeom>
          <a:ln w="2286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274320" y="6080760"/>
            <a:ext cx="11612880" cy="402336"/>
          </a:xfrm>
          <a:prstGeom prst="roundRect">
            <a:avLst>
              <a:gd name="adj" fmla="val 5000"/>
            </a:avLst>
          </a:prstGeom>
          <a:solidFill>
            <a:srgbClr val="1A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02920" y="610819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  <a:latin typeface="Courier New"/>
              </a:rPr>
              <a:t>$ python main.py    →    $ python -m http.server 8000    →    http://localhost:8000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411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Circle-Wise Consumption Rankings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8E8"/>
                </a:solidFill>
                <a:latin typeface="Calibri"/>
              </a:rPr>
              <a:t>Highest and lowest consuming electricity circles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84124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AA0CC"/>
                </a:solidFill>
                <a:latin typeface="Calibri"/>
              </a:rPr>
              <a:t>TG-SPDCL  |  Data Analytics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B4D8"/>
                </a:solidFill>
                <a:latin typeface="Calibri"/>
              </a:rPr>
              <a:t>TG-SPDCL Domestic Electricity Consumption Analysis  | 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4710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7 /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89888"/>
            <a:ext cx="548640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389888"/>
            <a:ext cx="5486400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4447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TOP 5 CIRCLES — Highest Consumption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01168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027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04825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011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Medchal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28600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141.7M units  |  11.4% share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2560320"/>
            <a:ext cx="4023360" cy="128016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0120" y="2560320"/>
            <a:ext cx="4023360" cy="12801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11480" y="2871216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027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90779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287121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Habsiguda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14553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138.1M units  |  11.1% share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" y="3419856"/>
            <a:ext cx="4023360" cy="128016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0120" y="3419856"/>
            <a:ext cx="3902659" cy="12801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11480" y="3730752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027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76732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7307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Cybercity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00507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125.4M units  |  10.1% share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" y="4279392"/>
            <a:ext cx="4023360" cy="128016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0120" y="4279392"/>
            <a:ext cx="3540556" cy="12801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11480" y="459028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027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62686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59028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Hyderabad Central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486460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112.5M units  |   9.0% share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" y="5138928"/>
            <a:ext cx="4023360" cy="128016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0120" y="5138928"/>
            <a:ext cx="3178454" cy="12801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11480" y="5449824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027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548640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544982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Saroornagar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72414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112.3M units  |   9.0% share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0120" y="5998464"/>
            <a:ext cx="4023360" cy="128016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60120" y="5998464"/>
            <a:ext cx="3178454" cy="12801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035040" y="1389888"/>
            <a:ext cx="585216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35040" y="1389888"/>
            <a:ext cx="5852160" cy="475488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72200" y="1444752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BOTTOM 5 CIRCLES — Lowest Consumption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72200" y="201168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72200" y="204825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20116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Gadwal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20840" y="228600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10.0M units  |  Smallest consumer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20840" y="2560320"/>
            <a:ext cx="4754880" cy="128016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20840" y="2560320"/>
            <a:ext cx="2218944" cy="128016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172200" y="2871216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72200" y="290779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287121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Wanaparthy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20840" y="3145536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10.1M units  |  Rural district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20840" y="3419856"/>
            <a:ext cx="4754880" cy="128016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720840" y="3419856"/>
            <a:ext cx="2250643" cy="128016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172200" y="3730752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72200" y="376732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20840" y="37307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Nagarkurnool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20840" y="400507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13.1M units  |  District circle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20840" y="4279392"/>
            <a:ext cx="4754880" cy="128016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720840" y="4279392"/>
            <a:ext cx="2916326" cy="128016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172200" y="459028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72200" y="462686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20840" y="459028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Medak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20840" y="486460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15.9M units  |  District circle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720840" y="5138928"/>
            <a:ext cx="4754880" cy="128016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720840" y="5138928"/>
            <a:ext cx="3550310" cy="128016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6172200" y="5449824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172200" y="548640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20840" y="544982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Vikarabad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20840" y="5724144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17.9M units  |  District circle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720840" y="5998464"/>
            <a:ext cx="4754880" cy="128016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720840" y="5998464"/>
            <a:ext cx="3994099" cy="128016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74320" y="6419088"/>
            <a:ext cx="116128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74320" y="6483096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  <a:latin typeface="Calibri"/>
              </a:rPr>
              <a:t>Key Insight: Top 10 circles (all Hyderabad region) account for ~90% of all domestic units. District circles use ~1/3 per service compared to urban circles.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411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Circle Consumption &amp; Sanctioned 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8E8"/>
                </a:solidFill>
                <a:latin typeface="Calibri"/>
              </a:rPr>
              <a:t>Energy consumed (GWh) vs Connected load (MW) — all 20 circles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84124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AA0CC"/>
                </a:solidFill>
                <a:latin typeface="Calibri"/>
              </a:rPr>
              <a:t>TG-SPDCL  |  Data Analytics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B4D8"/>
                </a:solidFill>
                <a:latin typeface="Calibri"/>
              </a:rPr>
              <a:t>TG-SPDCL Domestic Electricity Consumption Analysis  | 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4710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8 / 17</a:t>
            </a:r>
          </a:p>
        </p:txBody>
      </p:sp>
      <p:pic>
        <p:nvPicPr>
          <p:cNvPr id="10" name="Picture 9" descr="circle_consum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53312"/>
            <a:ext cx="11704320" cy="5138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64748B"/>
                </a:solidFill>
                <a:latin typeface="Calibri"/>
              </a:rPr>
              <a:t>Cyan bars = Energy consumption (GWh)  |  Purple line = Sanctioned load (MW)  |  Sorted: highest to lowest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411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Top 20 Highest Demand Areas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8E8"/>
                </a:solidFill>
                <a:latin typeface="Calibri"/>
              </a:rPr>
              <a:t>Largest electricity consuming neighborhoods — Seaborn barplot with circle hue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84124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AA0CC"/>
                </a:solidFill>
                <a:latin typeface="Calibri"/>
              </a:rPr>
              <a:t>TG-SPDCL  |  Data Analytics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B4D8"/>
                </a:solidFill>
                <a:latin typeface="Calibri"/>
              </a:rPr>
              <a:t>TG-SPDCL Domestic Electricity Consumption Analysis  | 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4710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9 / 17</a:t>
            </a:r>
          </a:p>
        </p:txBody>
      </p:sp>
      <p:pic>
        <p:nvPicPr>
          <p:cNvPr id="10" name="Picture 9" descr="top20_are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53312"/>
            <a:ext cx="8686800" cy="52120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006840" y="1389888"/>
            <a:ext cx="3017520" cy="5120640"/>
          </a:xfrm>
          <a:prstGeom prst="rect">
            <a:avLst/>
          </a:prstGeom>
          <a:solidFill>
            <a:srgbClr val="FFFFFF"/>
          </a:solidFill>
          <a:ln w="10160">
            <a:solidFill>
              <a:srgbClr val="C78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06840" y="1389888"/>
            <a:ext cx="3017520" cy="438912"/>
          </a:xfrm>
          <a:prstGeom prst="rect">
            <a:avLst/>
          </a:prstGeom>
          <a:solidFill>
            <a:srgbClr val="C78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14447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TOP 3 HIGHLIGHTS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9659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200253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Hydernagar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2860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78300"/>
                </a:solidFill>
                <a:latin typeface="Calibri Light"/>
              </a:rPr>
              <a:t>2.32M kWh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5877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Largest single sector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32004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32369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Moosapet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52044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78300"/>
                </a:solidFill>
                <a:latin typeface="Calibri Light"/>
              </a:rPr>
              <a:t>1.81M kWh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38221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Borabanda division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44348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447141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4434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Vinayaknagar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475488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78300"/>
                </a:solidFill>
                <a:latin typeface="Calibri Light"/>
              </a:rPr>
              <a:t>1.47M kWh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50566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Medchal circle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411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Billing Efficiency by Circle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8E8"/>
                </a:solidFill>
                <a:latin typeface="Calibri"/>
              </a:rPr>
              <a:t>% billed connections vs 95% target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84124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AA0CC"/>
                </a:solidFill>
                <a:latin typeface="Calibri"/>
              </a:rPr>
              <a:t>TG-SPDCL  |  Data Analytics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B4D8"/>
                </a:solidFill>
                <a:latin typeface="Calibri"/>
              </a:rPr>
              <a:t>TG-SPDCL Domestic Electricity Consumption Analysis  | 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4710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10 / 17</a:t>
            </a:r>
          </a:p>
        </p:txBody>
      </p:sp>
      <p:pic>
        <p:nvPicPr>
          <p:cNvPr id="10" name="Picture 9" descr="billing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53312"/>
            <a:ext cx="8686800" cy="52120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006840" y="1389888"/>
            <a:ext cx="3017520" cy="5120640"/>
          </a:xfrm>
          <a:prstGeom prst="rect">
            <a:avLst/>
          </a:prstGeom>
          <a:solidFill>
            <a:srgbClr val="FFFFFF"/>
          </a:solidFill>
          <a:ln w="10160">
            <a:solidFill>
              <a:srgbClr val="E0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06840" y="1389888"/>
            <a:ext cx="3017520" cy="438912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14447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BILLING LEGEND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99339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DB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199339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&gt; 97%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226771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High performer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279806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279806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93–97%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307238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On target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360273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360273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&lt; 93%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38770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Needs attention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4553712"/>
            <a:ext cx="2743200" cy="1737360"/>
          </a:xfrm>
          <a:prstGeom prst="rect">
            <a:avLst/>
          </a:prstGeom>
          <a:solidFill>
            <a:srgbClr val="F0F4FA"/>
          </a:solidFill>
          <a:ln w="6350">
            <a:solidFill>
              <a:srgbClr val="E0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46451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Overall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491947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03E3E"/>
                </a:solidFill>
                <a:latin typeface="Calibri Light"/>
              </a:rPr>
              <a:t>92.68%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5486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Gap: ~649K connections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5806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C78300"/>
                </a:solidFill>
                <a:latin typeface="Calibri"/>
              </a:rPr>
              <a:t>Target: 95%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411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Connected Load vs Units Consumed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8E8"/>
                </a:solidFill>
                <a:latin typeface="Calibri"/>
              </a:rPr>
              <a:t>Seaborn regplot — linear correlation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84124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AA0CC"/>
                </a:solidFill>
                <a:latin typeface="Calibri"/>
              </a:rPr>
              <a:t>TG-SPDCL  |  Data Analytics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B4D8"/>
                </a:solidFill>
                <a:latin typeface="Calibri"/>
              </a:rPr>
              <a:t>TG-SPDCL Domestic Electricity Consumption Analysis  | 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4710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11 / 17</a:t>
            </a:r>
          </a:p>
        </p:txBody>
      </p:sp>
      <p:pic>
        <p:nvPicPr>
          <p:cNvPr id="10" name="Picture 9" descr="load_vs_un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53312"/>
            <a:ext cx="8686800" cy="52120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006840" y="1389888"/>
            <a:ext cx="3017520" cy="5120640"/>
          </a:xfrm>
          <a:prstGeom prst="rect">
            <a:avLst/>
          </a:prstGeom>
          <a:solidFill>
            <a:srgbClr val="FFFFFF"/>
          </a:solidFill>
          <a:ln w="10160">
            <a:solidFill>
              <a:srgbClr val="2DB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06840" y="1389888"/>
            <a:ext cx="3017520" cy="438912"/>
          </a:xfrm>
          <a:prstGeom prst="rect">
            <a:avLst/>
          </a:prstGeom>
          <a:solidFill>
            <a:srgbClr val="2DB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14447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CORRELATION STATS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993392"/>
            <a:ext cx="2743200" cy="868680"/>
          </a:xfrm>
          <a:prstGeom prst="rect">
            <a:avLst/>
          </a:prstGeom>
          <a:solidFill>
            <a:srgbClr val="F0F4FA"/>
          </a:solidFill>
          <a:ln w="6350">
            <a:solidFill>
              <a:srgbClr val="2DB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53728" y="204825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Correlation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28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DB87D"/>
                </a:solidFill>
                <a:latin typeface="Calibri Light"/>
              </a:rPr>
              <a:t>r ≈ 0.95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3728" y="263347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Strong positive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2953512"/>
            <a:ext cx="2743200" cy="868680"/>
          </a:xfrm>
          <a:prstGeom prst="rect">
            <a:avLst/>
          </a:prstGeom>
          <a:solidFill>
            <a:srgbClr val="F0F4FA"/>
          </a:solidFill>
          <a:ln w="6350">
            <a:solidFill>
              <a:srgbClr val="2DB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53728" y="300837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Relationship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3728" y="3246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DB87D"/>
                </a:solidFill>
                <a:latin typeface="Calibri Light"/>
              </a:rPr>
              <a:t>Linear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359359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Load → Units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3913632"/>
            <a:ext cx="2743200" cy="868680"/>
          </a:xfrm>
          <a:prstGeom prst="rect">
            <a:avLst/>
          </a:prstGeom>
          <a:solidFill>
            <a:srgbClr val="F0F4FA"/>
          </a:solidFill>
          <a:ln w="6350">
            <a:solidFill>
              <a:srgbClr val="2DB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3728" y="396849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Hue mapping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DB87D"/>
                </a:solidFill>
                <a:latin typeface="Calibri Light"/>
              </a:rPr>
              <a:t>Billing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455371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Color = efficiency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4956048"/>
            <a:ext cx="2743200" cy="1371600"/>
          </a:xfrm>
          <a:prstGeom prst="rect">
            <a:avLst/>
          </a:prstGeom>
          <a:solidFill>
            <a:srgbClr val="1A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5029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/>
              </a:rPr>
              <a:t>Interpretation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5321808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Areas with higher sanctioned load reliably show higher consumption. Load data can serve as a proxy for demand forecasting.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411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Statistical Distributions (KDE + Histogram)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8E8"/>
                </a:solidFill>
                <a:latin typeface="Calibri"/>
              </a:rPr>
              <a:t>Seaborn histplot with kernel density estimation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84124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AA0CC"/>
                </a:solidFill>
                <a:latin typeface="Calibri"/>
              </a:rPr>
              <a:t>TG-SPDCL  |  Data Analytics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B4D8"/>
                </a:solidFill>
                <a:latin typeface="Calibri"/>
              </a:rPr>
              <a:t>TG-SPDCL Domestic Electricity Consumption Analysis  | 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4710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12 / 17</a:t>
            </a:r>
          </a:p>
        </p:txBody>
      </p:sp>
      <p:pic>
        <p:nvPicPr>
          <p:cNvPr id="10" name="Picture 9" descr="distribution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53312"/>
            <a:ext cx="11795760" cy="48463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74320" y="6291072"/>
            <a:ext cx="5669280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3276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Household Consumption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632764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Right-skewed distribution. Median ~90 kWh/month. Some sectors show extreme values (HT/bulk consumers).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6291072"/>
            <a:ext cx="5669280" cy="475488"/>
          </a:xfrm>
          <a:prstGeom prst="rect">
            <a:avLst/>
          </a:prstGeom>
          <a:solidFill>
            <a:srgbClr val="2DB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63276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Billing Efficiency Distribution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632764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Strongly left-skewed (peak at 97-100%). Most sectors bill nearly all connections. ~7% have significant gaps.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411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Data Quality Issues &amp; Cleaning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8E8"/>
                </a:solidFill>
                <a:latin typeface="Calibri"/>
              </a:rPr>
              <a:t>Identified problems and the handling strategy applied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84124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AA0CC"/>
                </a:solidFill>
                <a:latin typeface="Calibri"/>
              </a:rPr>
              <a:t>TG-SPDCL  |  Data Analytics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B4D8"/>
                </a:solidFill>
                <a:latin typeface="Calibri"/>
              </a:rPr>
              <a:t>TG-SPDCL Domestic Electricity Consumption Analysis  | 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4710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13 /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44752"/>
            <a:ext cx="3749039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0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44752"/>
            <a:ext cx="3749039" cy="73152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444752"/>
            <a:ext cx="73152" cy="9144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517904"/>
            <a:ext cx="35661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3E3E"/>
                </a:solidFill>
                <a:latin typeface="Calibri"/>
              </a:rPr>
              <a:t>ISSUE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719072"/>
            <a:ext cx="3566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02E"/>
                </a:solidFill>
                <a:latin typeface="Calibri"/>
              </a:rPr>
              <a:t>247 NULL
BILLDSERVICES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48839.5" y="2377440"/>
            <a:ext cx="0.0" cy="292608"/>
          </a:xfrm>
          <a:prstGeom prst="line">
            <a:avLst/>
          </a:prstGeom>
          <a:ln w="2286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74320" y="2688336"/>
            <a:ext cx="3749039" cy="621792"/>
          </a:xfrm>
          <a:prstGeom prst="rect">
            <a:avLst/>
          </a:prstGeom>
          <a:solidFill>
            <a:srgbClr val="E8F8F0"/>
          </a:solidFill>
          <a:ln w="12700">
            <a:solidFill>
              <a:srgbClr val="2DB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274320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DB87D"/>
                </a:solidFill>
                <a:latin typeface="Calibri"/>
              </a:rPr>
              <a:t>FIX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2926080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02E"/>
                </a:solidFill>
                <a:latin typeface="Calibri"/>
              </a:rPr>
              <a:t>All 247 rows also have 0 UNITS
→ Impute from TOTSERVICES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59" y="1444752"/>
            <a:ext cx="3749039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78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59" y="1444752"/>
            <a:ext cx="3749039" cy="73152"/>
          </a:xfrm>
          <a:prstGeom prst="rect">
            <a:avLst/>
          </a:prstGeom>
          <a:solidFill>
            <a:srgbClr val="C78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59" y="1444752"/>
            <a:ext cx="73152" cy="914400"/>
          </a:xfrm>
          <a:prstGeom prst="rect">
            <a:avLst/>
          </a:prstGeom>
          <a:solidFill>
            <a:srgbClr val="C78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19" y="1517904"/>
            <a:ext cx="35661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78300"/>
                </a:solidFill>
                <a:latin typeface="Calibri"/>
              </a:rPr>
              <a:t>ISSUE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19" y="1719072"/>
            <a:ext cx="3566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02E"/>
                </a:solidFill>
                <a:latin typeface="Calibri"/>
              </a:rPr>
              <a:t>47 NULL
AREA Names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126478.5" y="2377440"/>
            <a:ext cx="0.0" cy="292608"/>
          </a:xfrm>
          <a:prstGeom prst="line">
            <a:avLst/>
          </a:prstGeom>
          <a:ln w="2286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251959" y="2688336"/>
            <a:ext cx="3749039" cy="621792"/>
          </a:xfrm>
          <a:prstGeom prst="rect">
            <a:avLst/>
          </a:prstGeom>
          <a:solidFill>
            <a:srgbClr val="E8F8F0"/>
          </a:solidFill>
          <a:ln w="12700">
            <a:solidFill>
              <a:srgbClr val="2DB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1687" y="274320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DB87D"/>
                </a:solidFill>
                <a:latin typeface="Calibri"/>
              </a:rPr>
              <a:t>FIX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1687" y="2926080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02E"/>
                </a:solidFill>
                <a:latin typeface="Calibri"/>
              </a:rPr>
              <a:t>Geographic label missing
→ Fill as 'UNKNOWN AREA'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598" y="1444752"/>
            <a:ext cx="3749039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0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598" y="1444752"/>
            <a:ext cx="3749039" cy="73152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598" y="1444752"/>
            <a:ext cx="73152" cy="9144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58" y="1517904"/>
            <a:ext cx="35661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3E3E"/>
                </a:solidFill>
                <a:latin typeface="Calibri"/>
              </a:rPr>
              <a:t>ISSUE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58" y="1719072"/>
            <a:ext cx="3566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02E"/>
                </a:solidFill>
                <a:latin typeface="Calibri"/>
              </a:rPr>
              <a:t>15 Negative
UNITS Values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104117.5" y="2377440"/>
            <a:ext cx="0.0" cy="292608"/>
          </a:xfrm>
          <a:prstGeom prst="line">
            <a:avLst/>
          </a:prstGeom>
          <a:ln w="2286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8229598" y="2688336"/>
            <a:ext cx="3749039" cy="621792"/>
          </a:xfrm>
          <a:prstGeom prst="rect">
            <a:avLst/>
          </a:prstGeom>
          <a:solidFill>
            <a:srgbClr val="FFF8E8"/>
          </a:solidFill>
          <a:ln w="12700">
            <a:solidFill>
              <a:srgbClr val="C78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9326" y="274320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78300"/>
                </a:solidFill>
                <a:latin typeface="Calibri"/>
              </a:rPr>
              <a:t>FIX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6" y="2926080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02E"/>
                </a:solidFill>
                <a:latin typeface="Calibri"/>
              </a:rPr>
              <a:t>Billing corrections / adjustments
→ Clip to 0 (not errors)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639312"/>
            <a:ext cx="3749039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3639312"/>
            <a:ext cx="3749039" cy="7315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3639312"/>
            <a:ext cx="73152" cy="914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3712464"/>
            <a:ext cx="35661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Calibri"/>
              </a:rPr>
              <a:t>ISSUE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3913632"/>
            <a:ext cx="3566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02E"/>
                </a:solidFill>
                <a:latin typeface="Calibri"/>
              </a:rPr>
              <a:t>1,999 Repeated
Area Names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148839.5" y="4572000"/>
            <a:ext cx="0.0" cy="292608"/>
          </a:xfrm>
          <a:prstGeom prst="line">
            <a:avLst/>
          </a:prstGeom>
          <a:ln w="2286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274320" y="4882896"/>
            <a:ext cx="3749039" cy="621792"/>
          </a:xfrm>
          <a:prstGeom prst="rect">
            <a:avLst/>
          </a:prstGeom>
          <a:solidFill>
            <a:srgbClr val="E8F8F0"/>
          </a:solidFill>
          <a:ln w="12700">
            <a:solidFill>
              <a:srgbClr val="2DB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4048" y="493776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DB87D"/>
                </a:solidFill>
                <a:latin typeface="Calibri"/>
              </a:rPr>
              <a:t>FIX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" y="5120640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02E"/>
                </a:solidFill>
                <a:latin typeface="Calibri"/>
              </a:rPr>
              <a:t>Same name, different sections
→ Retain — not duplicates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51959" y="3639312"/>
            <a:ext cx="3749039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0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51959" y="3639312"/>
            <a:ext cx="3749039" cy="73152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51959" y="3639312"/>
            <a:ext cx="73152" cy="9144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89119" y="3712464"/>
            <a:ext cx="35661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3E3E"/>
                </a:solidFill>
                <a:latin typeface="Calibri"/>
              </a:rPr>
              <a:t>ISSUE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89119" y="3913632"/>
            <a:ext cx="3566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02E"/>
                </a:solidFill>
                <a:latin typeface="Calibri"/>
              </a:rPr>
              <a:t>Extreme Outliers
(IQR ×1.5)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126478.5" y="4572000"/>
            <a:ext cx="0.0" cy="292608"/>
          </a:xfrm>
          <a:prstGeom prst="line">
            <a:avLst/>
          </a:prstGeom>
          <a:ln w="2286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4251959" y="4882896"/>
            <a:ext cx="3749039" cy="621792"/>
          </a:xfrm>
          <a:prstGeom prst="rect">
            <a:avLst/>
          </a:prstGeom>
          <a:solidFill>
            <a:srgbClr val="FFF8E8"/>
          </a:solidFill>
          <a:ln w="12700">
            <a:solidFill>
              <a:srgbClr val="C78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61687" y="493776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78300"/>
                </a:solidFill>
                <a:latin typeface="Calibri"/>
              </a:rPr>
              <a:t>FIX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61687" y="5120640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02E"/>
                </a:solidFill>
                <a:latin typeface="Calibri"/>
              </a:rPr>
              <a:t>Max: 2.32M kWh vs median 37K
→ Flag &amp; retain valid records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29598" y="3639312"/>
            <a:ext cx="3749039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1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229598" y="3639312"/>
            <a:ext cx="3749039" cy="73152"/>
          </a:xfrm>
          <a:prstGeom prst="rect">
            <a:avLst/>
          </a:prstGeom>
          <a:solidFill>
            <a:srgbClr val="1A3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229598" y="3639312"/>
            <a:ext cx="73152" cy="914400"/>
          </a:xfrm>
          <a:prstGeom prst="rect">
            <a:avLst/>
          </a:prstGeom>
          <a:solidFill>
            <a:srgbClr val="1A3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66758" y="3712464"/>
            <a:ext cx="35661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16B"/>
                </a:solidFill>
                <a:latin typeface="Calibri"/>
              </a:rPr>
              <a:t>ISSUE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66758" y="3913632"/>
            <a:ext cx="3566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02E"/>
                </a:solidFill>
                <a:latin typeface="Calibri"/>
              </a:rPr>
              <a:t>Zero Consumption
Rows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0104117.5" y="4572000"/>
            <a:ext cx="0.0" cy="292608"/>
          </a:xfrm>
          <a:prstGeom prst="line">
            <a:avLst/>
          </a:prstGeom>
          <a:ln w="2286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8229598" y="4882896"/>
            <a:ext cx="3749039" cy="621792"/>
          </a:xfrm>
          <a:prstGeom prst="rect">
            <a:avLst/>
          </a:prstGeom>
          <a:solidFill>
            <a:srgbClr val="E8F8F0"/>
          </a:solidFill>
          <a:ln w="12700">
            <a:solidFill>
              <a:srgbClr val="2DB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39326" y="493776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DB87D"/>
                </a:solidFill>
                <a:latin typeface="Calibri"/>
              </a:rPr>
              <a:t>FIX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39326" y="5120640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02E"/>
                </a:solidFill>
                <a:latin typeface="Calibri"/>
              </a:rPr>
              <a:t>Inactive / seasonal areas
→ Keep — may be temporarily idle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411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Key Analytical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8E8"/>
                </a:solidFill>
                <a:latin typeface="Calibri"/>
              </a:rPr>
              <a:t>Most important patterns discovered in the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84124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AA0CC"/>
                </a:solidFill>
                <a:latin typeface="Calibri"/>
              </a:rPr>
              <a:t>TG-SPDCL  |  Data Analytics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B4D8"/>
                </a:solidFill>
                <a:latin typeface="Calibri"/>
              </a:rPr>
              <a:t>TG-SPDCL Domestic Electricity Consumption Analysis  | 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4710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14 /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3749039" cy="2084831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63040"/>
            <a:ext cx="3749039" cy="47548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5544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Urban Concentration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0574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202E"/>
                </a:solidFill>
                <a:latin typeface="Calibri"/>
              </a:rPr>
              <a:t>Top 10 Hyderabad-region circles = ~90% of total domestic units consumed.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463040"/>
            <a:ext cx="3749039" cy="2084831"/>
          </a:xfrm>
          <a:prstGeom prst="rect">
            <a:avLst/>
          </a:prstGeom>
          <a:solidFill>
            <a:srgbClr val="FFFFFF"/>
          </a:solidFill>
          <a:ln w="19050">
            <a:solidFill>
              <a:srgbClr val="027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59" y="1463040"/>
            <a:ext cx="3749039" cy="475488"/>
          </a:xfrm>
          <a:prstGeom prst="rect">
            <a:avLst/>
          </a:prstGeom>
          <a:solidFill>
            <a:srgbClr val="027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19" y="15544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Per-Service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19" y="20574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202E"/>
                </a:solidFill>
                <a:latin typeface="Calibri"/>
              </a:rPr>
              <a:t>Banjara Hills: ~240 kWh/service vs district circles: ~75–83 kWh. Urban = 3x higher.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598" y="1463040"/>
            <a:ext cx="3749039" cy="2084831"/>
          </a:xfrm>
          <a:prstGeom prst="rect">
            <a:avLst/>
          </a:prstGeom>
          <a:solidFill>
            <a:srgbClr val="FFFFFF"/>
          </a:solidFill>
          <a:ln w="19050">
            <a:solidFill>
              <a:srgbClr val="C78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598" y="1463040"/>
            <a:ext cx="3749039" cy="475488"/>
          </a:xfrm>
          <a:prstGeom prst="rect">
            <a:avLst/>
          </a:prstGeom>
          <a:solidFill>
            <a:srgbClr val="C78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58" y="15544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Billing Revenue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58" y="20574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202E"/>
                </a:solidFill>
                <a:latin typeface="Calibri"/>
              </a:rPr>
              <a:t>92.68% billing rate means ~649,000 unbilled connections — a significant revenue leakage.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794760"/>
            <a:ext cx="3749039" cy="2084831"/>
          </a:xfrm>
          <a:prstGeom prst="rect">
            <a:avLst/>
          </a:prstGeom>
          <a:solidFill>
            <a:srgbClr val="FFFFFF"/>
          </a:solidFill>
          <a:ln w="19050">
            <a:solidFill>
              <a:srgbClr val="2DB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794760"/>
            <a:ext cx="3749039" cy="475488"/>
          </a:xfrm>
          <a:prstGeom prst="rect">
            <a:avLst/>
          </a:prstGeom>
          <a:solidFill>
            <a:srgbClr val="2DB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8862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Load as Predictor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38912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202E"/>
                </a:solidFill>
                <a:latin typeface="Calibri"/>
              </a:rPr>
              <a:t>Units &amp; load correlation r≈0.95. Sanctioned load is a reliable consumption proxy.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59" y="3794760"/>
            <a:ext cx="3749039" cy="2084831"/>
          </a:xfrm>
          <a:prstGeom prst="rect">
            <a:avLst/>
          </a:prstGeom>
          <a:solidFill>
            <a:srgbClr val="FFFFFF"/>
          </a:solidFill>
          <a:ln w="19050">
            <a:solidFill>
              <a:srgbClr val="B0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51959" y="3794760"/>
            <a:ext cx="3749039" cy="475488"/>
          </a:xfrm>
          <a:prstGeom prst="rect">
            <a:avLst/>
          </a:prstGeom>
          <a:solidFill>
            <a:srgbClr val="B0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19" y="38862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Demand Concentration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19" y="438912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202E"/>
                </a:solidFill>
                <a:latin typeface="Calibri"/>
              </a:rPr>
              <a:t>Top 15% of sectors by size (2,452 areas) account for 50.5% of all kWh consumed.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598" y="3794760"/>
            <a:ext cx="3749039" cy="2084831"/>
          </a:xfrm>
          <a:prstGeom prst="rect">
            <a:avLst/>
          </a:prstGeom>
          <a:solidFill>
            <a:srgbClr val="FFFFFF"/>
          </a:solidFill>
          <a:ln w="19050">
            <a:solidFill>
              <a:srgbClr val="E0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598" y="3794760"/>
            <a:ext cx="3749039" cy="475488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58" y="38862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Bulk Consumer Distortion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58" y="438912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202E"/>
                </a:solidFill>
                <a:latin typeface="Calibri"/>
              </a:rPr>
              <a:t>'DOMESTIC HT/HV/CT' rows show 3,000–11,500 kWh/service — likely bulk, not household.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411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Dataset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8E8"/>
                </a:solidFill>
                <a:latin typeface="Calibri"/>
              </a:rPr>
              <a:t>Boundaries of the analysis — what the data cannot tell 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84124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AA0CC"/>
                </a:solidFill>
                <a:latin typeface="Calibri"/>
              </a:rPr>
              <a:t>TG-SPDCL  |  Data Analytics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B4D8"/>
                </a:solidFill>
                <a:latin typeface="Calibri"/>
              </a:rPr>
              <a:t>TG-SPDCL Domestic Electricity Consumption Analysis  | 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4710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15 /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99032"/>
            <a:ext cx="3200400" cy="40233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44475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LIMITATION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40" y="1399032"/>
            <a:ext cx="7498079" cy="40233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444752"/>
            <a:ext cx="7360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IMPACT &amp; EXPLANATION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064240" y="1399032"/>
            <a:ext cx="1005840" cy="40233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0" y="1444752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CATEGORY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801368"/>
            <a:ext cx="11795760" cy="5029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189280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1B3E"/>
                </a:solidFill>
                <a:latin typeface="Calibri"/>
              </a:rPr>
              <a:t>No Time-Series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1892808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E"/>
                </a:solidFill>
                <a:latin typeface="Calibri"/>
              </a:rPr>
              <a:t>Single July 2026 snapshot only — cannot track consumption trends over time.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109960" y="189280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1A3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09960" y="1911096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313432"/>
            <a:ext cx="117957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40487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1B3E"/>
                </a:solidFill>
                <a:latin typeface="Calibri"/>
              </a:rPr>
              <a:t>Domestic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2404872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E"/>
                </a:solidFill>
                <a:latin typeface="Calibri"/>
              </a:rPr>
              <a:t>Commercial &amp; industrial consumers excluded — incomplete total demand picture.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09960" y="24048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09960" y="242316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825496"/>
            <a:ext cx="11795760" cy="5029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91693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1B3E"/>
                </a:solidFill>
                <a:latin typeface="Calibri"/>
              </a:rPr>
              <a:t>No Weather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47872" y="2916936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E"/>
                </a:solidFill>
                <a:latin typeface="Calibri"/>
              </a:rPr>
              <a:t>Cannot explain seasonal consumption peaks without temperature/climate variables.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109960" y="2916936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C78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09960" y="293522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Context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337560"/>
            <a:ext cx="117957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342900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1B3E"/>
                </a:solidFill>
                <a:latin typeface="Calibri"/>
              </a:rPr>
              <a:t>No Household Details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47872" y="3429000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E"/>
                </a:solidFill>
                <a:latin typeface="Calibri"/>
              </a:rPr>
              <a:t>Income, family size, appliance usage unknown — cannot explain why consumption differs.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109960" y="34290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1A3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109960" y="3447288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Depth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849624"/>
            <a:ext cx="11795760" cy="5029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394106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1B3E"/>
                </a:solidFill>
                <a:latin typeface="Calibri"/>
              </a:rPr>
              <a:t>Repeated Area Names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47872" y="3941064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E"/>
                </a:solidFill>
                <a:latin typeface="Calibri"/>
              </a:rPr>
              <a:t>1,999 area names appear in multiple sections — spatial deduplication needed.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109960" y="3941064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109960" y="3959352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Quality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361688"/>
            <a:ext cx="117957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445312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1B3E"/>
                </a:solidFill>
                <a:latin typeface="Calibri"/>
              </a:rPr>
              <a:t>Negative Units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47872" y="4453128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E"/>
                </a:solidFill>
                <a:latin typeface="Calibri"/>
              </a:rPr>
              <a:t>15 billing-correction rows cannot be distinguished from real negative consumption.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109960" y="445312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109960" y="4471416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Quality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873752"/>
            <a:ext cx="11795760" cy="5029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496519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1B3E"/>
                </a:solidFill>
                <a:latin typeface="Calibri"/>
              </a:rPr>
              <a:t>HT/HV Domestic Rows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47872" y="4965192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E"/>
                </a:solidFill>
                <a:latin typeface="Calibri"/>
              </a:rPr>
              <a:t>Bulk consumers billed as 'domestic' inflate category averages significantly.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109960" y="496519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1A3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109960" y="498348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Accuracy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5385816"/>
            <a:ext cx="117957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547725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1B3E"/>
                </a:solidFill>
                <a:latin typeface="Calibri"/>
              </a:rPr>
              <a:t>No Socioeconomic Data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47872" y="5477256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E"/>
                </a:solidFill>
                <a:latin typeface="Calibri"/>
              </a:rPr>
              <a:t>Cannot correlate consumption with poverty index, HDI, or household density.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109960" y="5477256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C78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109960" y="549554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Context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411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8E8"/>
                </a:solidFill>
                <a:latin typeface="Calibri"/>
              </a:rPr>
              <a:t>Tools, libraries &amp; technologies used in this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84124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AA0CC"/>
                </a:solidFill>
                <a:latin typeface="Calibri"/>
              </a:rPr>
              <a:t>TG-SPDCL  |  Data Analytics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B4D8"/>
                </a:solidFill>
                <a:latin typeface="Calibri"/>
              </a:rPr>
              <a:t>TG-SPDCL Domestic Electricity Consumption Analysis  | 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4710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16 /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89888"/>
            <a:ext cx="576072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389888"/>
            <a:ext cx="5760720" cy="457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PYTHON ANALYSIS STACK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965960"/>
            <a:ext cx="5440680" cy="694944"/>
          </a:xfrm>
          <a:prstGeom prst="rect">
            <a:avLst/>
          </a:prstGeom>
          <a:solidFill>
            <a:srgbClr val="F0F4FA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1965960"/>
            <a:ext cx="73152" cy="69494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02082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Pandas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9514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E"/>
                </a:solidFill>
                <a:latin typeface="Calibri"/>
              </a:rPr>
              <a:t>Data loading, cleaning, groupby aggregation &amp; feature engineering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715768"/>
            <a:ext cx="5440680" cy="694944"/>
          </a:xfrm>
          <a:prstGeom prst="rect">
            <a:avLst/>
          </a:prstGeom>
          <a:solidFill>
            <a:srgbClr val="F0F4FA"/>
          </a:solidFill>
          <a:ln w="10160">
            <a:solidFill>
              <a:srgbClr val="1A31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2715768"/>
            <a:ext cx="73152" cy="694944"/>
          </a:xfrm>
          <a:prstGeom prst="rect">
            <a:avLst/>
          </a:prstGeom>
          <a:solidFill>
            <a:srgbClr val="1A3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7706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16B"/>
                </a:solidFill>
                <a:latin typeface="Calibri"/>
              </a:rPr>
              <a:t>NumPy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0449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E"/>
                </a:solidFill>
                <a:latin typeface="Calibri"/>
              </a:rPr>
              <a:t>Vectorized operations: billing rate, outlier detection, clipping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465576"/>
            <a:ext cx="5440680" cy="694944"/>
          </a:xfrm>
          <a:prstGeom prst="rect">
            <a:avLst/>
          </a:prstGeom>
          <a:solidFill>
            <a:srgbClr val="F0F4FA"/>
          </a:solidFill>
          <a:ln w="10160">
            <a:solidFill>
              <a:srgbClr val="C78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3465576"/>
            <a:ext cx="73152" cy="694944"/>
          </a:xfrm>
          <a:prstGeom prst="rect">
            <a:avLst/>
          </a:prstGeom>
          <a:solidFill>
            <a:srgbClr val="C78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520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78300"/>
                </a:solidFill>
                <a:latin typeface="Calibri"/>
              </a:rPr>
              <a:t>Matplotlib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794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E"/>
                </a:solidFill>
                <a:latin typeface="Calibri"/>
              </a:rPr>
              <a:t>Publication-quality dark-theme static charts (5 PNG outputs)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215384"/>
            <a:ext cx="5440680" cy="694944"/>
          </a:xfrm>
          <a:prstGeom prst="rect">
            <a:avLst/>
          </a:prstGeom>
          <a:solidFill>
            <a:srgbClr val="F0F4FA"/>
          </a:solidFill>
          <a:ln w="10160">
            <a:solidFill>
              <a:srgbClr val="2DB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4215384"/>
            <a:ext cx="73152" cy="694944"/>
          </a:xfrm>
          <a:prstGeom prst="rect">
            <a:avLst/>
          </a:prstGeom>
          <a:solidFill>
            <a:srgbClr val="2DB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270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B87D"/>
                </a:solidFill>
                <a:latin typeface="Calibri"/>
              </a:rPr>
              <a:t>Seaborn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54456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E"/>
                </a:solidFill>
                <a:latin typeface="Calibri"/>
              </a:rPr>
              <a:t>Statistical plots: regplot, histplot+KDE, barplot with hue palette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965192"/>
            <a:ext cx="5440680" cy="694944"/>
          </a:xfrm>
          <a:prstGeom prst="rect">
            <a:avLst/>
          </a:prstGeom>
          <a:solidFill>
            <a:srgbClr val="F0F4FA"/>
          </a:solidFill>
          <a:ln w="1016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4965192"/>
            <a:ext cx="73152" cy="6949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0200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4748B"/>
                </a:solidFill>
                <a:latin typeface="Calibri"/>
              </a:rPr>
              <a:t>python-pptx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29437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E"/>
                </a:solidFill>
                <a:latin typeface="Calibri"/>
              </a:rPr>
              <a:t>Automated generation of this presentation programmatically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5715000"/>
            <a:ext cx="5440680" cy="694944"/>
          </a:xfrm>
          <a:prstGeom prst="rect">
            <a:avLst/>
          </a:prstGeom>
          <a:solidFill>
            <a:srgbClr val="F0F4FA"/>
          </a:solidFill>
          <a:ln w="10160">
            <a:solidFill>
              <a:srgbClr val="E0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" y="5715000"/>
            <a:ext cx="73152" cy="694944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7698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3E3E"/>
                </a:solidFill>
                <a:latin typeface="Calibri"/>
              </a:rPr>
              <a:t>json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04418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E"/>
                </a:solidFill>
                <a:latin typeface="Calibri"/>
              </a:rPr>
              <a:t>Exports analysis_summary.json for live dashboard data feed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1389888"/>
            <a:ext cx="576072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7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3640" y="1389888"/>
            <a:ext cx="5760720" cy="457200"/>
          </a:xfrm>
          <a:prstGeom prst="rect">
            <a:avLst/>
          </a:prstGeom>
          <a:solidFill>
            <a:srgbClr val="027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144475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WEB DASHBOARD STACK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1965960"/>
            <a:ext cx="5440680" cy="694944"/>
          </a:xfrm>
          <a:prstGeom prst="rect">
            <a:avLst/>
          </a:prstGeom>
          <a:solidFill>
            <a:srgbClr val="F0F4FA"/>
          </a:solidFill>
          <a:ln w="10160"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0" y="1965960"/>
            <a:ext cx="73152" cy="69494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202082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HTML5 + CSS3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229514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E"/>
                </a:solidFill>
                <a:latin typeface="Calibri"/>
              </a:rPr>
              <a:t>Glassmorphism dark UI, CSS variables, responsive grid layout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2715768"/>
            <a:ext cx="5440680" cy="694944"/>
          </a:xfrm>
          <a:prstGeom prst="rect">
            <a:avLst/>
          </a:prstGeom>
          <a:solidFill>
            <a:srgbClr val="F0F4FA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00800" y="2715768"/>
            <a:ext cx="73152" cy="69494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0" y="27706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JavaScript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30449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E"/>
                </a:solidFill>
                <a:latin typeface="Calibri"/>
              </a:rPr>
              <a:t>Dynamic filter slicers, search, pagination &amp; CSV export logic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3465576"/>
            <a:ext cx="5440680" cy="694944"/>
          </a:xfrm>
          <a:prstGeom prst="rect">
            <a:avLst/>
          </a:prstGeom>
          <a:solidFill>
            <a:srgbClr val="F0F4FA"/>
          </a:solidFill>
          <a:ln w="10160">
            <a:solidFill>
              <a:srgbClr val="C78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00800" y="3465576"/>
            <a:ext cx="73152" cy="694944"/>
          </a:xfrm>
          <a:prstGeom prst="rect">
            <a:avLst/>
          </a:prstGeom>
          <a:solidFill>
            <a:srgbClr val="C78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0" y="3520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78300"/>
                </a:solidFill>
                <a:latin typeface="Calibri"/>
              </a:rPr>
              <a:t>Chart.js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0" y="3794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E"/>
                </a:solidFill>
                <a:latin typeface="Calibri"/>
              </a:rPr>
              <a:t>Interactive bar/line combo, scatter plots, doughnut charts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4215384"/>
            <a:ext cx="5440680" cy="694944"/>
          </a:xfrm>
          <a:prstGeom prst="rect">
            <a:avLst/>
          </a:prstGeom>
          <a:solidFill>
            <a:srgbClr val="F0F4FA"/>
          </a:solidFill>
          <a:ln w="10160">
            <a:solidFill>
              <a:srgbClr val="2DB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400800" y="4215384"/>
            <a:ext cx="73152" cy="694944"/>
          </a:xfrm>
          <a:prstGeom prst="rect">
            <a:avLst/>
          </a:prstGeom>
          <a:solidFill>
            <a:srgbClr val="2DB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0" y="4270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B87D"/>
                </a:solidFill>
                <a:latin typeface="Calibri"/>
              </a:rPr>
              <a:t>KPI Cards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0" y="454456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E"/>
                </a:solidFill>
                <a:latin typeface="Calibri"/>
              </a:rPr>
              <a:t>Real-time metric tiles recalculated on every filter change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0" y="4965192"/>
            <a:ext cx="5440680" cy="694944"/>
          </a:xfrm>
          <a:prstGeom prst="rect">
            <a:avLst/>
          </a:prstGeom>
          <a:solidFill>
            <a:srgbClr val="F0F4FA"/>
          </a:solidFill>
          <a:ln w="10160">
            <a:solidFill>
              <a:srgbClr val="027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400800" y="4965192"/>
            <a:ext cx="73152" cy="694944"/>
          </a:xfrm>
          <a:prstGeom prst="rect">
            <a:avLst/>
          </a:prstGeom>
          <a:solidFill>
            <a:srgbClr val="027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83680" y="50200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7A9B"/>
                </a:solidFill>
                <a:latin typeface="Calibri"/>
              </a:rPr>
              <a:t>Anomaly Alerts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0" y="529437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E"/>
                </a:solidFill>
                <a:latin typeface="Calibri"/>
              </a:rPr>
              <a:t>Auto-flags sections with billing rate &lt; 85% or high load intensity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0" y="5715000"/>
            <a:ext cx="5440680" cy="694944"/>
          </a:xfrm>
          <a:prstGeom prst="rect">
            <a:avLst/>
          </a:prstGeom>
          <a:solidFill>
            <a:srgbClr val="F0F4FA"/>
          </a:solidFill>
          <a:ln w="10160">
            <a:solidFill>
              <a:srgbClr val="E0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400800" y="5715000"/>
            <a:ext cx="73152" cy="694944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83680" y="57698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3E3E"/>
                </a:solidFill>
                <a:latin typeface="Calibri"/>
              </a:rPr>
              <a:t>Gallery Modal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83680" y="604418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2E"/>
                </a:solidFill>
                <a:latin typeface="Calibri"/>
              </a:rPr>
              <a:t>Click-to-expand viewer for all 5 Matplotlib PNG reports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26480" y="1389888"/>
            <a:ext cx="73152" cy="5166360"/>
          </a:xfrm>
          <a:prstGeom prst="rect">
            <a:avLst/>
          </a:prstGeom>
          <a:solidFill>
            <a:srgbClr val="DD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074152" y="0"/>
            <a:ext cx="4114800" cy="6858000"/>
          </a:xfrm>
          <a:prstGeom prst="rect">
            <a:avLst/>
          </a:prstGeom>
          <a:solidFill>
            <a:srgbClr val="1A3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74152" y="0"/>
            <a:ext cx="502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 Light"/>
              </a:rPr>
              <a:t>Conclusions &amp;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4114800" cy="502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24128"/>
            <a:ext cx="7406640" cy="658368"/>
          </a:xfrm>
          <a:prstGeom prst="rect">
            <a:avLst/>
          </a:prstGeom>
          <a:solidFill>
            <a:srgbClr val="122552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24128"/>
            <a:ext cx="73152" cy="65836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7899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Calibri"/>
              </a:rPr>
              <a:t>Urban Dominance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1133856"/>
            <a:ext cx="4892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Top 10 Hyderabad circles = ~90% of all domestic electricity consumed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92224"/>
            <a:ext cx="7406640" cy="658368"/>
          </a:xfrm>
          <a:prstGeom prst="rect">
            <a:avLst/>
          </a:prstGeom>
          <a:solidFill>
            <a:srgbClr val="122552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792224"/>
            <a:ext cx="73152" cy="65836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4708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Calibri"/>
              </a:rPr>
              <a:t>Per-Service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1901952"/>
            <a:ext cx="4892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Banjara Hills: 240 kWh vs district circles: ~80 kWh/month (3x difference)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560320"/>
            <a:ext cx="7406640" cy="658368"/>
          </a:xfrm>
          <a:prstGeom prst="rect">
            <a:avLst/>
          </a:prstGeom>
          <a:solidFill>
            <a:srgbClr val="122552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560320"/>
            <a:ext cx="73152" cy="65836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61518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Calibri"/>
              </a:rPr>
              <a:t>Billing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2670048"/>
            <a:ext cx="4892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92.68% efficiency → ~649K unbilled connections = revenue recovery opportunity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328416"/>
            <a:ext cx="7406640" cy="658368"/>
          </a:xfrm>
          <a:prstGeom prst="rect">
            <a:avLst/>
          </a:prstGeom>
          <a:solidFill>
            <a:srgbClr val="122552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328416"/>
            <a:ext cx="73152" cy="65836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38328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Calibri"/>
              </a:rPr>
              <a:t>Strong Correlation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3438144"/>
            <a:ext cx="4892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Load–consumption r ≈ 0.95 → load data is a reliable demand proxy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096512"/>
            <a:ext cx="7406640" cy="658368"/>
          </a:xfrm>
          <a:prstGeom prst="rect">
            <a:avLst/>
          </a:prstGeom>
          <a:solidFill>
            <a:srgbClr val="122552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096512"/>
            <a:ext cx="73152" cy="65836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15137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Calibri"/>
              </a:rPr>
              <a:t>Demand Skew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4206240"/>
            <a:ext cx="4892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Top 15% of sectors (by size) consume over 50% of all electricity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956048"/>
            <a:ext cx="7406640" cy="548640"/>
          </a:xfrm>
          <a:prstGeom prst="rect">
            <a:avLst/>
          </a:prstGeom>
          <a:solidFill>
            <a:srgbClr val="0A14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04748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GitHub: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047488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https://github.com/arjunkanukuntla/dav-project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559552"/>
            <a:ext cx="7406640" cy="457200"/>
          </a:xfrm>
          <a:prstGeom prst="rect">
            <a:avLst/>
          </a:prstGeom>
          <a:solidFill>
            <a:srgbClr val="080E1E"/>
          </a:solidFill>
          <a:ln w="6350">
            <a:solidFill>
              <a:srgbClr val="1A31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623560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  <a:latin typeface="Courier New"/>
              </a:rPr>
              <a:t>$ python main.py    |    $ python -m http.server 8000    →    localhost:8000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57032" y="274320"/>
            <a:ext cx="3749039" cy="6126480"/>
          </a:xfrm>
          <a:prstGeom prst="rect">
            <a:avLst/>
          </a:prstGeom>
          <a:solidFill>
            <a:srgbClr val="101F48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39913" y="5029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  <a:latin typeface="Calibri"/>
              </a:rPr>
              <a:t>TEAM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9913" y="86868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 Light"/>
              </a:rPr>
              <a:t>Thank You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39913" y="1463040"/>
            <a:ext cx="338328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39913" y="1691640"/>
            <a:ext cx="3383280" cy="1115568"/>
          </a:xfrm>
          <a:prstGeom prst="rect">
            <a:avLst/>
          </a:prstGeom>
          <a:solidFill>
            <a:srgbClr val="122552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77072" y="178308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D. Chander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77072" y="214884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A623"/>
                </a:solidFill>
                <a:latin typeface="Calibri"/>
              </a:rPr>
              <a:t>2503A52214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77072" y="244144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A97A8"/>
                </a:solidFill>
                <a:latin typeface="Calibri"/>
              </a:rPr>
              <a:t>B.Tech CSE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39913" y="2971800"/>
            <a:ext cx="3383280" cy="1115568"/>
          </a:xfrm>
          <a:prstGeom prst="rect">
            <a:avLst/>
          </a:prstGeom>
          <a:solidFill>
            <a:srgbClr val="122552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77072" y="306324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K. Arjun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77072" y="342900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A623"/>
                </a:solidFill>
                <a:latin typeface="Calibri"/>
              </a:rPr>
              <a:t>2503A52235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77072" y="372160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A97A8"/>
                </a:solidFill>
                <a:latin typeface="Calibri"/>
              </a:rPr>
              <a:t>B.Tech CSE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39913" y="4251960"/>
            <a:ext cx="3383280" cy="1115568"/>
          </a:xfrm>
          <a:prstGeom prst="rect">
            <a:avLst/>
          </a:prstGeom>
          <a:solidFill>
            <a:srgbClr val="122552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77072" y="434340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P. Sachin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77072" y="470916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A623"/>
                </a:solidFill>
                <a:latin typeface="Calibri"/>
              </a:rPr>
              <a:t>2503A52240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77072" y="500176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A97A8"/>
                </a:solidFill>
                <a:latin typeface="Calibri"/>
              </a:rPr>
              <a:t>B.Tech CSE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39913" y="555955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8A97A8"/>
                </a:solidFill>
                <a:latin typeface="Calibri"/>
              </a:rPr>
              <a:t>Data Analytics &amp; Visualization  | 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